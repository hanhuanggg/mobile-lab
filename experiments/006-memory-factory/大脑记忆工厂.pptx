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8"/>
          <c:w val="0.87"/>
          <c:h val="0.83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未复习 · 示意</c:v>
                </c:pt>
              </c:strCache>
            </c:strRef>
          </c:tx>
          <c:spPr>
            <a:solidFill>
              <a:srgbClr val="62647B"/>
            </a:solidFill>
            <a:ln w="38100" cap="flat">
              <a:solidFill>
                <a:srgbClr val="62647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2647B"/>
              </a:solidFill>
              <a:ln w="9525" cap="flat">
                <a:solidFill>
                  <a:srgbClr val="62647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</c:lvl>
              </c:multiLvlStrCache>
            </c:multiLvl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100</c:v>
                </c:pt>
                <c:pt idx="1">
                  <c:v>86</c:v>
                </c:pt>
                <c:pt idx="2">
                  <c:v>74</c:v>
                </c:pt>
                <c:pt idx="3">
                  <c:v>65</c:v>
                </c:pt>
                <c:pt idx="4">
                  <c:v>57</c:v>
                </c:pt>
                <c:pt idx="5">
                  <c:v>51</c:v>
                </c:pt>
                <c:pt idx="6">
                  <c:v>45</c:v>
                </c:pt>
                <c:pt idx="7">
                  <c:v>41</c:v>
                </c:pt>
                <c:pt idx="8">
                  <c:v>37</c:v>
                </c:pt>
                <c:pt idx="9">
                  <c:v>34</c:v>
                </c:pt>
                <c:pt idx="10">
                  <c:v>32</c:v>
                </c:pt>
                <c:pt idx="11">
                  <c:v>30</c:v>
                </c:pt>
                <c:pt idx="12">
                  <c:v>28</c:v>
                </c:pt>
                <c:pt idx="13">
                  <c:v>27</c:v>
                </c:pt>
                <c:pt idx="14">
                  <c:v>25</c:v>
                </c:pt>
                <c:pt idx="15">
                  <c:v>24</c:v>
                </c:pt>
                <c:pt idx="16">
                  <c:v>24</c:v>
                </c:pt>
                <c:pt idx="17">
                  <c:v>23</c:v>
                </c:pt>
                <c:pt idx="18">
                  <c:v>23</c:v>
                </c:pt>
                <c:pt idx="19">
                  <c:v>22</c:v>
                </c:pt>
                <c:pt idx="20">
                  <c:v>22</c:v>
                </c:pt>
                <c:pt idx="21">
                  <c:v>21</c:v>
                </c:pt>
                <c:pt idx="22">
                  <c:v>21</c:v>
                </c:pt>
                <c:pt idx="23">
                  <c:v>21</c:v>
                </c:pt>
                <c:pt idx="24">
                  <c:v>21</c:v>
                </c:pt>
                <c:pt idx="25">
                  <c:v>21</c:v>
                </c:pt>
                <c:pt idx="26">
                  <c:v>21</c:v>
                </c:pt>
                <c:pt idx="27">
                  <c:v>20</c:v>
                </c:pt>
                <c:pt idx="28">
                  <c:v>20</c:v>
                </c:pt>
                <c:pt idx="29">
                  <c:v>20</c:v>
                </c:pt>
                <c:pt idx="30">
                  <c:v>20</c:v>
                </c:pt>
                <c:pt idx="31">
                  <c:v>20</c:v>
                </c:pt>
                <c:pt idx="32">
                  <c:v>20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间隔复习 · 示意</c:v>
                </c:pt>
              </c:strCache>
            </c:strRef>
          </c:tx>
          <c:spPr>
            <a:solidFill>
              <a:srgbClr val="3975D7"/>
            </a:solidFill>
            <a:ln w="38100" cap="flat">
              <a:solidFill>
                <a:srgbClr val="3975D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975D7"/>
              </a:solidFill>
              <a:ln w="9525" cap="flat">
                <a:solidFill>
                  <a:srgbClr val="3975D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</c:lvl>
              </c:multiLvlStrCache>
            </c:multiLvlStrRef>
          </c:cat>
          <c:val>
            <c:numRef>
              <c:f>Sheet1!$C$2:$C$34</c:f>
              <c:numCache>
                <c:formatCode>General</c:formatCode>
                <c:ptCount val="33"/>
                <c:pt idx="0">
                  <c:v>100</c:v>
                </c:pt>
                <c:pt idx="1">
                  <c:v>86</c:v>
                </c:pt>
                <c:pt idx="2">
                  <c:v>74</c:v>
                </c:pt>
                <c:pt idx="3">
                  <c:v>65</c:v>
                </c:pt>
                <c:pt idx="4">
                  <c:v>57</c:v>
                </c:pt>
                <c:pt idx="5">
                  <c:v>97</c:v>
                </c:pt>
                <c:pt idx="6">
                  <c:v>91</c:v>
                </c:pt>
                <c:pt idx="7">
                  <c:v>85</c:v>
                </c:pt>
                <c:pt idx="8">
                  <c:v>81</c:v>
                </c:pt>
                <c:pt idx="9">
                  <c:v>78</c:v>
                </c:pt>
                <c:pt idx="10">
                  <c:v>75</c:v>
                </c:pt>
                <c:pt idx="11">
                  <c:v>73</c:v>
                </c:pt>
                <c:pt idx="12">
                  <c:v>71</c:v>
                </c:pt>
                <c:pt idx="13">
                  <c:v>98</c:v>
                </c:pt>
                <c:pt idx="14">
                  <c:v>95</c:v>
                </c:pt>
                <c:pt idx="15">
                  <c:v>93</c:v>
                </c:pt>
                <c:pt idx="16">
                  <c:v>91</c:v>
                </c:pt>
                <c:pt idx="17">
                  <c:v>89</c:v>
                </c:pt>
                <c:pt idx="18">
                  <c:v>87</c:v>
                </c:pt>
                <c:pt idx="19">
                  <c:v>85</c:v>
                </c:pt>
                <c:pt idx="20">
                  <c:v>84</c:v>
                </c:pt>
                <c:pt idx="21">
                  <c:v>83</c:v>
                </c:pt>
                <c:pt idx="22">
                  <c:v>82</c:v>
                </c:pt>
                <c:pt idx="23">
                  <c:v>81</c:v>
                </c:pt>
                <c:pt idx="24">
                  <c:v>80</c:v>
                </c:pt>
                <c:pt idx="25">
                  <c:v>99</c:v>
                </c:pt>
                <c:pt idx="26">
                  <c:v>98</c:v>
                </c:pt>
                <c:pt idx="27">
                  <c:v>96</c:v>
                </c:pt>
                <c:pt idx="28">
                  <c:v>95</c:v>
                </c:pt>
                <c:pt idx="29">
                  <c:v>94</c:v>
                </c:pt>
                <c:pt idx="30">
                  <c:v>93</c:v>
                </c:pt>
                <c:pt idx="31">
                  <c:v>93</c:v>
                </c:pt>
                <c:pt idx="32">
                  <c:v>92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7E7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2647B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【建议用时】0:30
开场：今天我们把大脑当成一座信息加工厂。请学生带着一个自己的记忆困扰参与。封面图中的线条表示信息进入，工厂是教学隐喻，并不对应大脑中的三个物理房间。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【建议用时】1:45
邀请举手：有没有走出家门后突然怀疑自己锁没锁门？保留悬念，不现场判定学生有没有锁。追问：熟练动作发生时，注意力可能在哪里？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【建议用时】1:00
这是虚构讨论情境。请学生想：两种版本可能都带着各自的视角。记忆会受情绪、后来的信息和提取过程影响；不能仅凭不一致断定谁撒谎，也不能认定家长版本一定正确。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【建议用时】0:45
强调工厂是帮助理解的比喻。记忆包含编码、保持和提取。丢失可以发生在多个环节，不是有一个专门负责丢掉记忆的房间。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【建议用时】5:00
请4名同学上台，每人负责6个词，其余同学看图记忆。教师每3秒读一个词，共24词。禁止写汉字、字母、数字或拼音。词表（每竖线为一组）：雨伞、钥匙、自行车、月亮、书包、面包｜篮球、眼镜、火车、树叶、闹钟、桥梁｜蝴蝶、帐篷、蛋糕、海浪、吉他、信封｜台灯、地图、风筝、雪人、相机、鞋子。最后随机提问，不按原顺序。计时约72秒，留时间邀请、解释、抢答。可让学生留在座位做简笔记录，避免行动不便者被排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【建议用时】1:30
请学生先报告亲身体验：容易记住哪一个词？画得具体、联想到生活、和相邻图连成故事，都可能提供额外线索。不要把这个活动当作正式的记忆能力测验，也不评价谁记性差。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【建议用时】0:45
简要定义：记忆是人脑对经历过的事物进行编码、保持和提取的过程。人们提取的是经过加工的表征，而非一段完整、绝对准确的视频。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【建议用时】2:00
按箭头走一遍：感觉记忆短暂保持输入；被注意的信息可能进入短时记忆；复述有助于维持，理解与组织有助于长期编码；每个阶段都可能流失。图为经典多存储模型的教学简化，并非真实解剖分区。感觉记忆不同通道时间不同；短时记忆并无固定1秒至1分钟的统一范围，此处按教案的近似表述讲解，不复述时常在数十秒内衰退。7±2来自经典研究，现代工作记忆研究在某些条件下常估计约4个组块。长时记忆也不保证永不遗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【建议用时】1:15
可请学生闭眼一瞬，再看教室，体验视觉印象的短暂残留；不要用强光或频闪。图中的逐渐变淡是概念示意，并不意味着大家都能看清同样多的字符。视觉感觉痕迹通常更短，听觉痕迹可持续更久。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【建议用时】1:30
说明短时保持是临时性的；持续复述可以延长停留。屏幕上时长是便于课堂理解的近似范围，具体任务差异很大。7±2为Miller的经典估计，不是每个人固定拥有7个格子；现代工作记忆研究在一些条件下约为4组块。避免用这个数字评价学生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【建议用时】2:30
先用手或屏幕遮住下半区，给学生3秒看上排，再问能回忆几个字母；揭示下排后比较。两排字符相同：C C T V N B A U N E S C O，共13个。熟悉缩写的学生可形成3组；不熟悉UNESCO就不能自动把它当成1组。这说明组块依赖已有知识和意义，而不是任意加框。上排原教案随机字母例子已改成严格相同材料，以免材料差异造成误解。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【建议用时】1:15
长时记忆包括事实、事件、技能等不同形式，图中只作生活化分类而非严格分类学。问：学“春天”的诗能连到哪些画面、情绪或生活经历？记忆不是整齐独立的文件夹，网络表示知识之间的联系。长期保存不等于永久准确、随时可提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【建议用时】1:15
让学生把“背了就忘”拆分：是从未注意、没有形成联系、还是后续缺少提取？图是策略诊断地图，不是遗忘的完整科学解释。干扰、提取线索不足、情境变化等也可能造成想不起来；想不起来未必等于痕迹已完全消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【建议用时】2:00
图表是可编辑的PowerPoint原生折线图，数值是教学示意，并非艾宾浩斯原始实验数据或个人预测。关键规律是早期遗忘较快、随后放缓；在间隔中主动提取可帮助保持。当日、第2天、第7天为可执行的示例安排，需按难度、掌握情况和考试时间调整，不是普适最佳间隔。可以让学生说出下次要复习的一项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【建议用时】1:30
中心句是学习提醒，不是严格的能力判断：清楚讲解是检验理解的一种方式，表达困难也可能来自紧张、语言或提取困难。可示范“负数相减为什么变成加法”中解释卡住的一步，回去查后再讲。鼓励用自己的话，不背定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【建议用时】1:30
杏仁核位于颞叶内侧，图为侧面脑的简化投影位置，并非可见于脑表面；情绪记忆涉及杏仁核与海马等网络的协作。情绪可以影响注意、编码与巩固，但强烈情绪不保证准确，过强压力可能干扰学习和回忆。不通过制造恐惧、羞辱或高压强化记忆；可用兴趣、成就感、个人意义参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【建议用时】1:15
普通阅读也可能有效，图中是对低投入、机械重复阅读的示意，并非每次看两遍都会遗忘。请学生把一个课题改成问题：历史事件为什么发生？数学这个步骤为什么成立？好奇心可以促进注意和探索，但仍需可靠资料、理解与练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【建议用时】1:30
请学生用手指选一条自己最少使用的路径。强调四种方法可以组合，不是保证所有内容永不忘记的配方。重复复习尽量包含主动回忆，而非只重复盯着材料。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【建议用时】3:00
4人一组。每人用20秒说一个具体困扰，不使用“我记性就是差”这样的整体标签。组员先判断可能卡在注意、加工或后续提取的哪一环，再选两条策略。不要要求公开敏感或创伤经历。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【建议用时】5:00
每组讨论后，每人完成自己的计划。示例：困扰—英语单词隔天忘；策略—间隔复习+主动输出；行动—明晚遮住中文写5个词，再用其中2个造句；检查—第2天和第7天尝试回忆。请1至2名同学分享。此页的空白线和文字均可编辑，可另行打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【建议用时】2:45
先请学生不看笔记，口述信息经过哪三个阶段。再请同桌指出注意、理解加工、复习输出分别帮助什么。最后做退出条：写出一个“漏点”和一次可在24小时内完成的行动。可根据课堂时间遮挡关键词进行回忆。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【建议用时】0:30
收束：遗忘很常见，今天学习的是可改变的策略。邀请学生在课后实行自己的下一次行动，下一节用简短回顾交流。若学生提出持续明显影响生活的记忆问题，课后个别了解，并按学校支持流程处理。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svg"/><Relationship Id="rId9" Type="http://schemas.openxmlformats.org/officeDocument/2006/relationships/image" Target="../media/image-1-9.png"/><Relationship Id="rId10" Type="http://schemas.openxmlformats.org/officeDocument/2006/relationships/image" Target="../media/image-1-10.svg"/><Relationship Id="rId11" Type="http://schemas.openxmlformats.org/officeDocument/2006/relationships/image" Target="../media/image-1-11.png"/><Relationship Id="rId12" Type="http://schemas.openxmlformats.org/officeDocument/2006/relationships/image" Target="../media/image-1-12.svg"/><Relationship Id="rId13" Type="http://schemas.openxmlformats.org/officeDocument/2006/relationships/image" Target="../media/image-1-13.png"/><Relationship Id="rId14" Type="http://schemas.openxmlformats.org/officeDocument/2006/relationships/image" Target="../media/image-1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image" Target="../media/image-4-13.png"/><Relationship Id="rId14" Type="http://schemas.openxmlformats.org/officeDocument/2006/relationships/image" Target="../media/image-4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4-1.png"/><Relationship Id="rId3" Type="http://schemas.openxmlformats.org/officeDocument/2006/relationships/image" Target="../media/image-14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初中心理健康 / 40分钟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你的记忆，真的靠谱吗？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1874520"/>
            <a:ext cx="4069080" cy="3291840"/>
          </a:xfrm>
          <a:prstGeom prst="roundRect">
            <a:avLst>
              <a:gd name="adj" fmla="val 4444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pic>
        <p:nvPicPr>
          <p:cNvPr id="13" name="Image 0" descr="/workspace/mobile-lab/experiments/006-memory-factory/assets/illustrations/brai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16552" y="2084832"/>
            <a:ext cx="3383280" cy="254203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773168" y="4645152"/>
            <a:ext cx="2651760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46320" y="4645152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信息正在被加工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2057400" y="2304288"/>
            <a:ext cx="2011680" cy="621792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17" name="Shape 14"/>
          <p:cNvSpPr/>
          <p:nvPr/>
        </p:nvSpPr>
        <p:spPr>
          <a:xfrm>
            <a:off x="960120" y="1975104"/>
            <a:ext cx="1417320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18" name="Image 1" descr="/workspace/mobile-lab/experiments/006-memory-factory/assets/icons/eye-36369B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848" y="2139696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581912" y="2148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看见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 flipV="1">
            <a:off x="1755648" y="3429000"/>
            <a:ext cx="2313432" cy="210312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21" name="Shape 17"/>
          <p:cNvSpPr/>
          <p:nvPr/>
        </p:nvSpPr>
        <p:spPr>
          <a:xfrm>
            <a:off x="658368" y="3310128"/>
            <a:ext cx="1417320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2" name="Image 2" descr="/workspace/mobile-lab/experiments/006-memory-factory/assets/icons/ear-3975D7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96" y="3474720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80160" y="348386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 flipV="1">
            <a:off x="2468880" y="3931920"/>
            <a:ext cx="1600200" cy="1078992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25" name="Shape 20"/>
          <p:cNvSpPr/>
          <p:nvPr/>
        </p:nvSpPr>
        <p:spPr>
          <a:xfrm>
            <a:off x="1371600" y="4681728"/>
            <a:ext cx="1417320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6" name="Image 3" descr="/workspace/mobile-lab/experiments/006-memory-factory/assets/icons/book-open-36369B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81328" y="4846320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993392" y="485546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学过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 flipH="1">
            <a:off x="8138160" y="2267712"/>
            <a:ext cx="2560320" cy="658368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29" name="Shape 23"/>
          <p:cNvSpPr/>
          <p:nvPr/>
        </p:nvSpPr>
        <p:spPr>
          <a:xfrm>
            <a:off x="9601200" y="1938528"/>
            <a:ext cx="1417320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0" name="Image 4" descr="/workspace/mobile-lab/experiments/006-memory-factory/assets/icons/key-round-3975D7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10928" y="2103120"/>
            <a:ext cx="384048" cy="38404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0222992" y="211226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做过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 flipH="1" flipV="1">
            <a:off x="8138160" y="3429000"/>
            <a:ext cx="3017520" cy="210312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33" name="Shape 26"/>
          <p:cNvSpPr/>
          <p:nvPr/>
        </p:nvSpPr>
        <p:spPr>
          <a:xfrm>
            <a:off x="10058400" y="3310128"/>
            <a:ext cx="1417320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4" name="Image 5" descr="/workspace/mobile-lab/experiments/006-memory-factory/assets/icons/message-circle-36369B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68128" y="3474720"/>
            <a:ext cx="384048" cy="38404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10680192" y="348386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聊过</a:t>
            </a:r>
            <a:endParaRPr lang="en-US" sz="1800" dirty="0"/>
          </a:p>
        </p:txBody>
      </p:sp>
      <p:sp>
        <p:nvSpPr>
          <p:cNvPr id="36" name="Shape 28"/>
          <p:cNvSpPr/>
          <p:nvPr/>
        </p:nvSpPr>
        <p:spPr>
          <a:xfrm flipH="1" flipV="1">
            <a:off x="8138160" y="3931920"/>
            <a:ext cx="2286000" cy="1088136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37" name="Shape 29"/>
          <p:cNvSpPr/>
          <p:nvPr/>
        </p:nvSpPr>
        <p:spPr>
          <a:xfrm>
            <a:off x="9326880" y="4690872"/>
            <a:ext cx="1417320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8" name="Image 6" descr="/workspace/mobile-lab/experiments/006-memory-factory/assets/icons/image-3975D7.sv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436608" y="4855464"/>
            <a:ext cx="384048" cy="38404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9948672" y="48646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经历过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3108960" y="1874520"/>
            <a:ext cx="731520" cy="365760"/>
          </a:xfrm>
          <a:prstGeom prst="roundRect">
            <a:avLst>
              <a:gd name="adj" fmla="val 40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3182112" y="187452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单词</a:t>
            </a:r>
            <a:endParaRPr lang="en-US" sz="1600" dirty="0"/>
          </a:p>
        </p:txBody>
      </p:sp>
      <p:sp>
        <p:nvSpPr>
          <p:cNvPr id="42" name="Shape 33"/>
          <p:cNvSpPr/>
          <p:nvPr/>
        </p:nvSpPr>
        <p:spPr>
          <a:xfrm>
            <a:off x="8458200" y="4297680"/>
            <a:ext cx="822960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8531352" y="4297680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音乐</a:t>
            </a:r>
            <a:endParaRPr lang="en-US" sz="1600" dirty="0"/>
          </a:p>
        </p:txBody>
      </p:sp>
      <p:sp>
        <p:nvSpPr>
          <p:cNvPr id="44" name="Shape 35"/>
          <p:cNvSpPr/>
          <p:nvPr/>
        </p:nvSpPr>
        <p:spPr>
          <a:xfrm>
            <a:off x="3291840" y="4983480"/>
            <a:ext cx="777240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3364992" y="4983480"/>
            <a:ext cx="630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考试</a:t>
            </a:r>
            <a:endParaRPr lang="en-US" sz="1600" dirty="0"/>
          </a:p>
        </p:txBody>
      </p:sp>
      <p:sp>
        <p:nvSpPr>
          <p:cNvPr id="46" name="Shape 37"/>
          <p:cNvSpPr/>
          <p:nvPr/>
        </p:nvSpPr>
        <p:spPr>
          <a:xfrm>
            <a:off x="731520" y="5705856"/>
            <a:ext cx="1944014" cy="512064"/>
          </a:xfrm>
          <a:prstGeom prst="roundRect">
            <a:avLst>
              <a:gd name="adj" fmla="val 28571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786384" y="5760720"/>
            <a:ext cx="18342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信息进入</a:t>
            </a:r>
            <a:endParaRPr lang="en-US" sz="1800" dirty="0"/>
          </a:p>
        </p:txBody>
      </p:sp>
      <p:sp>
        <p:nvSpPr>
          <p:cNvPr id="48" name="Shape 39"/>
          <p:cNvSpPr/>
          <p:nvPr/>
        </p:nvSpPr>
        <p:spPr>
          <a:xfrm>
            <a:off x="2702966" y="5961888"/>
            <a:ext cx="201168" cy="0"/>
          </a:xfrm>
          <a:prstGeom prst="line">
            <a:avLst/>
          </a:prstGeom>
          <a:noFill/>
          <a:ln w="1905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49" name="Shape 40"/>
          <p:cNvSpPr/>
          <p:nvPr/>
        </p:nvSpPr>
        <p:spPr>
          <a:xfrm>
            <a:off x="2931566" y="5705856"/>
            <a:ext cx="1944014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2986430" y="5760720"/>
            <a:ext cx="18342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注意筛选</a:t>
            </a:r>
            <a:endParaRPr lang="en-US" sz="1800" dirty="0"/>
          </a:p>
        </p:txBody>
      </p:sp>
      <p:sp>
        <p:nvSpPr>
          <p:cNvPr id="51" name="Shape 42"/>
          <p:cNvSpPr/>
          <p:nvPr/>
        </p:nvSpPr>
        <p:spPr>
          <a:xfrm>
            <a:off x="4903013" y="5961888"/>
            <a:ext cx="201168" cy="0"/>
          </a:xfrm>
          <a:prstGeom prst="line">
            <a:avLst/>
          </a:prstGeom>
          <a:noFill/>
          <a:ln w="1905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52" name="Shape 43"/>
          <p:cNvSpPr/>
          <p:nvPr/>
        </p:nvSpPr>
        <p:spPr>
          <a:xfrm>
            <a:off x="5131613" y="5705856"/>
            <a:ext cx="1944014" cy="512064"/>
          </a:xfrm>
          <a:prstGeom prst="roundRect">
            <a:avLst>
              <a:gd name="adj" fmla="val 28571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5186477" y="5760720"/>
            <a:ext cx="18342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暂时保存</a:t>
            </a:r>
            <a:endParaRPr lang="en-US" sz="1800" dirty="0"/>
          </a:p>
        </p:txBody>
      </p:sp>
      <p:sp>
        <p:nvSpPr>
          <p:cNvPr id="54" name="Shape 45"/>
          <p:cNvSpPr/>
          <p:nvPr/>
        </p:nvSpPr>
        <p:spPr>
          <a:xfrm>
            <a:off x="7103059" y="5961888"/>
            <a:ext cx="201168" cy="0"/>
          </a:xfrm>
          <a:prstGeom prst="line">
            <a:avLst/>
          </a:prstGeom>
          <a:noFill/>
          <a:ln w="1905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55" name="Shape 46"/>
          <p:cNvSpPr/>
          <p:nvPr/>
        </p:nvSpPr>
        <p:spPr>
          <a:xfrm>
            <a:off x="7331659" y="5705856"/>
            <a:ext cx="1944014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56" name="Text 47"/>
          <p:cNvSpPr/>
          <p:nvPr/>
        </p:nvSpPr>
        <p:spPr>
          <a:xfrm>
            <a:off x="7386523" y="5760720"/>
            <a:ext cx="18342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理解加工</a:t>
            </a:r>
            <a:endParaRPr lang="en-US" sz="1800" dirty="0"/>
          </a:p>
        </p:txBody>
      </p:sp>
      <p:sp>
        <p:nvSpPr>
          <p:cNvPr id="57" name="Shape 48"/>
          <p:cNvSpPr/>
          <p:nvPr/>
        </p:nvSpPr>
        <p:spPr>
          <a:xfrm>
            <a:off x="9303106" y="5961888"/>
            <a:ext cx="201168" cy="0"/>
          </a:xfrm>
          <a:prstGeom prst="line">
            <a:avLst/>
          </a:prstGeom>
          <a:noFill/>
          <a:ln w="1905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58" name="Shape 49"/>
          <p:cNvSpPr/>
          <p:nvPr/>
        </p:nvSpPr>
        <p:spPr>
          <a:xfrm>
            <a:off x="9531706" y="5705856"/>
            <a:ext cx="1944014" cy="512064"/>
          </a:xfrm>
          <a:prstGeom prst="roundRect">
            <a:avLst>
              <a:gd name="adj" fmla="val 28571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59" name="Text 50"/>
          <p:cNvSpPr/>
          <p:nvPr/>
        </p:nvSpPr>
        <p:spPr>
          <a:xfrm>
            <a:off x="9586570" y="5760720"/>
            <a:ext cx="18342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长期留下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探索记忆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我到底锁门了吗？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熟悉的动作，为什么会留下模糊的记忆？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1874520"/>
            <a:ext cx="3337560" cy="3401568"/>
          </a:xfrm>
          <a:prstGeom prst="roundRect">
            <a:avLst>
              <a:gd name="adj" fmla="val 4384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21040" y="1874520"/>
            <a:ext cx="3310128" cy="3401568"/>
          </a:xfrm>
          <a:prstGeom prst="roundRect">
            <a:avLst>
              <a:gd name="adj" fmla="val 442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4846320"/>
            <a:ext cx="585216" cy="256032"/>
          </a:xfrm>
          <a:prstGeom prst="rect">
            <a:avLst/>
          </a:prstGeom>
          <a:solidFill>
            <a:srgbClr val="D9E4F7"/>
          </a:solidFill>
          <a:ln w="12700">
            <a:solidFill>
              <a:srgbClr val="D9E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99032" y="4480560"/>
            <a:ext cx="585216" cy="256032"/>
          </a:xfrm>
          <a:prstGeom prst="rect">
            <a:avLst/>
          </a:prstGeom>
          <a:solidFill>
            <a:srgbClr val="D9E4F7"/>
          </a:solidFill>
          <a:ln w="12700">
            <a:solidFill>
              <a:srgbClr val="D9E4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56816" y="4114800"/>
            <a:ext cx="585216" cy="256032"/>
          </a:xfrm>
          <a:prstGeom prst="rect">
            <a:avLst/>
          </a:prstGeom>
          <a:solidFill>
            <a:srgbClr val="D9E4F7"/>
          </a:solidFill>
          <a:ln w="12700">
            <a:solidFill>
              <a:srgbClr val="D9E4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3749040"/>
            <a:ext cx="585216" cy="256032"/>
          </a:xfrm>
          <a:prstGeom prst="rect">
            <a:avLst/>
          </a:prstGeom>
          <a:solidFill>
            <a:srgbClr val="D9E4F7"/>
          </a:solidFill>
          <a:ln w="12700">
            <a:solidFill>
              <a:srgbClr val="D9E4F7"/>
            </a:solidFill>
            <a:prstDash val="solid"/>
          </a:ln>
        </p:spPr>
      </p:sp>
      <p:pic>
        <p:nvPicPr>
          <p:cNvPr id="18" name="Image 0" descr="/workspace/mobile-lab/experiments/006-memory-factory/assets/illustrations/studen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80160" y="2103120"/>
            <a:ext cx="1143000" cy="267004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1024128" y="4782312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97280" y="4782312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已经走下楼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079992" y="2176272"/>
            <a:ext cx="1773936" cy="2441448"/>
          </a:xfrm>
          <a:prstGeom prst="roundRect">
            <a:avLst>
              <a:gd name="adj" fmla="val 3093"/>
            </a:avLst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281160" y="2395728"/>
            <a:ext cx="1371600" cy="2029968"/>
          </a:xfrm>
          <a:prstGeom prst="roundRect">
            <a:avLst>
              <a:gd name="adj" fmla="val 2000"/>
            </a:avLst>
          </a:prstGeom>
          <a:solidFill>
            <a:srgbClr val="6263B6"/>
          </a:solidFill>
          <a:ln w="12700">
            <a:solidFill>
              <a:srgbClr val="6263B6"/>
            </a:solidFill>
            <a:prstDash val="solid"/>
          </a:ln>
        </p:spPr>
      </p:sp>
      <p:pic>
        <p:nvPicPr>
          <p:cNvPr id="23" name="Image 1" descr="/workspace/mobile-lab/experiments/006-memory-factory/assets/icons/lock-keyhole-FFFFFF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38360" y="3218688"/>
            <a:ext cx="438912" cy="438912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0469880" y="3465576"/>
            <a:ext cx="274320" cy="0"/>
          </a:xfrm>
          <a:prstGeom prst="line">
            <a:avLst/>
          </a:prstGeom>
          <a:noFill/>
          <a:ln w="50800">
            <a:solidFill>
              <a:srgbClr val="F39A45"/>
            </a:solidFill>
            <a:prstDash val="solid"/>
            <a:headEnd type="none"/>
            <a:tailEnd type="none"/>
          </a:ln>
        </p:spPr>
      </p:sp>
      <p:sp>
        <p:nvSpPr>
          <p:cNvPr id="25" name="Shape 21"/>
          <p:cNvSpPr/>
          <p:nvPr/>
        </p:nvSpPr>
        <p:spPr>
          <a:xfrm>
            <a:off x="8778240" y="4782312"/>
            <a:ext cx="2377440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8851392" y="4782312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门锁在楼上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4279392" y="2423160"/>
            <a:ext cx="3639312" cy="1527048"/>
          </a:xfrm>
          <a:prstGeom prst="roundRect">
            <a:avLst>
              <a:gd name="adj" fmla="val 958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8" name="Image 2" descr="/workspace/mobile-lab/experiments/006-memory-factory/assets/icons/circle-help-F39A45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96712" y="1965960"/>
            <a:ext cx="621792" cy="621792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526280" y="2688336"/>
            <a:ext cx="314553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“我刚刚……</a:t>
            </a:r>
            <a:endParaRPr lang="en-US" sz="2500" dirty="0"/>
          </a:p>
          <a:p>
            <a:pPr algn="ctr" indent="0" marL="0">
              <a:buNone/>
            </a:pPr>
            <a:r>
              <a:rPr lang="en-US" sz="25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到底锁没锁？”</a:t>
            </a:r>
            <a:endParaRPr lang="en-US" sz="2500" dirty="0"/>
          </a:p>
        </p:txBody>
      </p:sp>
      <p:sp>
        <p:nvSpPr>
          <p:cNvPr id="30" name="Shape 25"/>
          <p:cNvSpPr/>
          <p:nvPr/>
        </p:nvSpPr>
        <p:spPr>
          <a:xfrm flipV="1">
            <a:off x="3904488" y="3291840"/>
            <a:ext cx="347472" cy="27432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31" name="Shape 26"/>
          <p:cNvSpPr/>
          <p:nvPr/>
        </p:nvSpPr>
        <p:spPr>
          <a:xfrm>
            <a:off x="7927848" y="3291840"/>
            <a:ext cx="365760" cy="27432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32" name="Shape 27"/>
          <p:cNvSpPr/>
          <p:nvPr/>
        </p:nvSpPr>
        <p:spPr>
          <a:xfrm>
            <a:off x="4279392" y="4251960"/>
            <a:ext cx="3639312" cy="365760"/>
          </a:xfrm>
          <a:prstGeom prst="roundRect">
            <a:avLst>
              <a:gd name="adj" fmla="val 40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4352544" y="4251960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现实：动作是否发生？</a:t>
            </a:r>
            <a:endParaRPr lang="en-US" sz="1800" dirty="0"/>
          </a:p>
        </p:txBody>
      </p:sp>
      <p:sp>
        <p:nvSpPr>
          <p:cNvPr id="34" name="Shape 29"/>
          <p:cNvSpPr/>
          <p:nvPr/>
        </p:nvSpPr>
        <p:spPr>
          <a:xfrm>
            <a:off x="4279392" y="4736592"/>
            <a:ext cx="3639312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352544" y="4736592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脑中：我感觉发生过</a:t>
            </a:r>
            <a:endParaRPr lang="en-US" sz="1800" dirty="0"/>
          </a:p>
        </p:txBody>
      </p:sp>
      <p:sp>
        <p:nvSpPr>
          <p:cNvPr id="36" name="Shape 31"/>
          <p:cNvSpPr/>
          <p:nvPr/>
        </p:nvSpPr>
        <p:spPr>
          <a:xfrm>
            <a:off x="530352" y="5806440"/>
            <a:ext cx="11128248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758952" y="5843016"/>
            <a:ext cx="10671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感觉记得很清楚，就一定是真的吗？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探索记忆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同一段童年，两种版本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情境讨论：第一次在亲友面前表演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1938528"/>
            <a:ext cx="4983480" cy="3429000"/>
          </a:xfrm>
          <a:prstGeom prst="roundRect">
            <a:avLst>
              <a:gd name="adj" fmla="val 4267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2176272"/>
            <a:ext cx="4471416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2176272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我的童年记忆</a:t>
            </a:r>
            <a:endParaRPr lang="en-US" sz="2000" dirty="0"/>
          </a:p>
        </p:txBody>
      </p:sp>
      <p:pic>
        <p:nvPicPr>
          <p:cNvPr id="15" name="Image 0" descr="/workspace/mobile-lab/experiments/006-memory-factory/assets/icons/user-round-3975D7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7552" y="2926080"/>
            <a:ext cx="676656" cy="6766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993392" y="29260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92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“我忘词了，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292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所有人都在笑我。”</a:t>
            </a:r>
            <a:endParaRPr lang="en-US" sz="2500" dirty="0"/>
          </a:p>
        </p:txBody>
      </p:sp>
      <p:sp>
        <p:nvSpPr>
          <p:cNvPr id="17" name="Shape 14"/>
          <p:cNvSpPr/>
          <p:nvPr/>
        </p:nvSpPr>
        <p:spPr>
          <a:xfrm>
            <a:off x="896112" y="4572000"/>
            <a:ext cx="1307592" cy="457200"/>
          </a:xfrm>
          <a:prstGeom prst="roundRect">
            <a:avLst>
              <a:gd name="adj" fmla="val 32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50976" y="4626864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当时感受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2231136" y="4800600"/>
            <a:ext cx="201168" cy="0"/>
          </a:xfrm>
          <a:prstGeom prst="line">
            <a:avLst/>
          </a:prstGeom>
          <a:noFill/>
          <a:ln w="1905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2459736" y="4572000"/>
            <a:ext cx="1307592" cy="457200"/>
          </a:xfrm>
          <a:prstGeom prst="roundRect">
            <a:avLst>
              <a:gd name="adj" fmla="val 32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514600" y="4626864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后来的解释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3794760" y="4800600"/>
            <a:ext cx="201168" cy="0"/>
          </a:xfrm>
          <a:prstGeom prst="line">
            <a:avLst/>
          </a:prstGeom>
          <a:noFill/>
          <a:ln w="1905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023360" y="4572000"/>
            <a:ext cx="1307592" cy="457200"/>
          </a:xfrm>
          <a:prstGeom prst="roundRect">
            <a:avLst>
              <a:gd name="adj" fmla="val 32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078224" y="4626864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现在回忆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583680" y="1938528"/>
            <a:ext cx="4983480" cy="3429000"/>
          </a:xfrm>
          <a:prstGeom prst="roundRect">
            <a:avLst>
              <a:gd name="adj" fmla="val 4267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39712" y="2176272"/>
            <a:ext cx="4471416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912864" y="2176272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爸妈告诉我的版本</a:t>
            </a:r>
            <a:endParaRPr lang="en-US" sz="2000" dirty="0"/>
          </a:p>
        </p:txBody>
      </p:sp>
      <p:pic>
        <p:nvPicPr>
          <p:cNvPr id="28" name="Image 1" descr="/workspace/mobile-lab/experiments/006-memory-factory/assets/icons/users-7655CE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9440" y="2926080"/>
            <a:ext cx="676656" cy="67665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29260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92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“你唱完以后，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292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大家都鼓掌了。”</a:t>
            </a:r>
            <a:endParaRPr lang="en-US" sz="2500" dirty="0"/>
          </a:p>
        </p:txBody>
      </p:sp>
      <p:sp>
        <p:nvSpPr>
          <p:cNvPr id="30" name="Shape 26"/>
          <p:cNvSpPr/>
          <p:nvPr/>
        </p:nvSpPr>
        <p:spPr>
          <a:xfrm>
            <a:off x="6858000" y="4572000"/>
            <a:ext cx="1307592" cy="457200"/>
          </a:xfrm>
          <a:prstGeom prst="roundRect">
            <a:avLst>
              <a:gd name="adj" fmla="val 32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912864" y="4626864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被转述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8193024" y="4800600"/>
            <a:ext cx="201168" cy="0"/>
          </a:xfrm>
          <a:prstGeom prst="line">
            <a:avLst/>
          </a:prstGeom>
          <a:noFill/>
          <a:ln w="1905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8421624" y="4572000"/>
            <a:ext cx="1307592" cy="457200"/>
          </a:xfrm>
          <a:prstGeom prst="roundRect">
            <a:avLst>
              <a:gd name="adj" fmla="val 32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476488" y="4626864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再想象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9756648" y="4800600"/>
            <a:ext cx="201168" cy="0"/>
          </a:xfrm>
          <a:prstGeom prst="line">
            <a:avLst/>
          </a:prstGeom>
          <a:noFill/>
          <a:ln w="1905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36" name="Shape 32"/>
          <p:cNvSpPr/>
          <p:nvPr/>
        </p:nvSpPr>
        <p:spPr>
          <a:xfrm>
            <a:off x="9985248" y="4572000"/>
            <a:ext cx="1307592" cy="457200"/>
          </a:xfrm>
          <a:prstGeom prst="roundRect">
            <a:avLst>
              <a:gd name="adj" fmla="val 32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10040112" y="4626864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再记住</a:t>
            </a:r>
            <a:endParaRPr lang="en-US" sz="1800" dirty="0"/>
          </a:p>
        </p:txBody>
      </p:sp>
      <p:sp>
        <p:nvSpPr>
          <p:cNvPr id="38" name="Text 34"/>
          <p:cNvSpPr/>
          <p:nvPr/>
        </p:nvSpPr>
        <p:spPr>
          <a:xfrm>
            <a:off x="5650992" y="2971800"/>
            <a:ext cx="850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39A4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≠</a:t>
            </a:r>
            <a:endParaRPr lang="en-US" sz="4800" dirty="0"/>
          </a:p>
        </p:txBody>
      </p:sp>
      <p:sp>
        <p:nvSpPr>
          <p:cNvPr id="39" name="Shape 35"/>
          <p:cNvSpPr/>
          <p:nvPr/>
        </p:nvSpPr>
        <p:spPr>
          <a:xfrm>
            <a:off x="530352" y="5806440"/>
            <a:ext cx="11128248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758952" y="5843016"/>
            <a:ext cx="10671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大脑真的像录像机吗？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探索记忆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大脑不是录像机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它更像一座“信息加工厂”。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947672"/>
            <a:ext cx="3749040" cy="2331720"/>
          </a:xfrm>
          <a:prstGeom prst="roundRect">
            <a:avLst>
              <a:gd name="adj" fmla="val 6275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pic>
        <p:nvPicPr>
          <p:cNvPr id="13" name="Image 0" descr="/workspace/mobile-lab/experiments/006-memory-factory/assets/icons/video-3975D7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" y="2468880"/>
            <a:ext cx="1051560" cy="10515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423160" y="235915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原样录制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原样回放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4736592" y="2532888"/>
            <a:ext cx="932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39A4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≠</a:t>
            </a:r>
            <a:endParaRPr lang="en-US" sz="5400" dirty="0"/>
          </a:p>
        </p:txBody>
      </p:sp>
      <p:sp>
        <p:nvSpPr>
          <p:cNvPr id="16" name="Shape 13"/>
          <p:cNvSpPr/>
          <p:nvPr/>
        </p:nvSpPr>
        <p:spPr>
          <a:xfrm>
            <a:off x="5961888" y="1947672"/>
            <a:ext cx="5513832" cy="2331720"/>
          </a:xfrm>
          <a:prstGeom prst="roundRect">
            <a:avLst>
              <a:gd name="adj" fmla="val 6275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pic>
        <p:nvPicPr>
          <p:cNvPr id="17" name="Image 1" descr="/workspace/mobile-lab/experiments/006-memory-factory/assets/illustrations/brain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63640" y="2258568"/>
            <a:ext cx="2057400" cy="154533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641080" y="237744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选择信息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重新组织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留下痕迹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731520" y="4617720"/>
            <a:ext cx="1938528" cy="969264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0" name="Image 2" descr="/workspace/mobile-lab/experiments/006-memory-factory/assets/icons/inbox-36369B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" y="4846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490472" y="48006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接收</a:t>
            </a:r>
            <a:endParaRPr lang="en-US" sz="2200" dirty="0"/>
          </a:p>
        </p:txBody>
      </p:sp>
      <p:sp>
        <p:nvSpPr>
          <p:cNvPr id="22" name="Shape 17"/>
          <p:cNvSpPr/>
          <p:nvPr/>
        </p:nvSpPr>
        <p:spPr>
          <a:xfrm>
            <a:off x="2688336" y="5102352"/>
            <a:ext cx="246888" cy="0"/>
          </a:xfrm>
          <a:prstGeom prst="line">
            <a:avLst/>
          </a:prstGeom>
          <a:noFill/>
          <a:ln w="1905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2990088" y="4617720"/>
            <a:ext cx="1938528" cy="969264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4" name="Image 3" descr="/workspace/mobile-lab/experiments/006-memory-factory/assets/icons/scan-line-36369B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5536" y="4846320"/>
            <a:ext cx="457200" cy="4572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3749040" y="48006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筛选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4946904" y="5102352"/>
            <a:ext cx="246888" cy="0"/>
          </a:xfrm>
          <a:prstGeom prst="line">
            <a:avLst/>
          </a:prstGeom>
          <a:noFill/>
          <a:ln w="1905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5248656" y="4617720"/>
            <a:ext cx="1938528" cy="969264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8" name="Image 4" descr="/workspace/mobile-lab/experiments/006-memory-factory/assets/icons/combine-36369B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04104" y="4846320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007608" y="48006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加工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7205472" y="5102352"/>
            <a:ext cx="246888" cy="0"/>
          </a:xfrm>
          <a:prstGeom prst="line">
            <a:avLst/>
          </a:prstGeom>
          <a:noFill/>
          <a:ln w="1905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7507224" y="4617720"/>
            <a:ext cx="1938528" cy="969264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2" name="Image 5" descr="/workspace/mobile-lab/experiments/006-memory-factory/assets/icons/folder-open-36369B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662672" y="4846320"/>
            <a:ext cx="457200" cy="45720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266176" y="48006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保存</a:t>
            </a:r>
            <a:endParaRPr lang="en-US" sz="2200" dirty="0"/>
          </a:p>
        </p:txBody>
      </p:sp>
      <p:sp>
        <p:nvSpPr>
          <p:cNvPr id="34" name="Shape 26"/>
          <p:cNvSpPr/>
          <p:nvPr/>
        </p:nvSpPr>
        <p:spPr>
          <a:xfrm>
            <a:off x="9464040" y="5102352"/>
            <a:ext cx="246888" cy="0"/>
          </a:xfrm>
          <a:prstGeom prst="line">
            <a:avLst/>
          </a:prstGeom>
          <a:noFill/>
          <a:ln w="1905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35" name="Shape 27"/>
          <p:cNvSpPr/>
          <p:nvPr/>
        </p:nvSpPr>
        <p:spPr>
          <a:xfrm>
            <a:off x="9765792" y="4617720"/>
            <a:ext cx="1938528" cy="969264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6" name="Image 6" descr="/workspace/mobile-lab/experiments/006-memory-factory/assets/icons/archive-x-62647B.sv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921240" y="4846320"/>
            <a:ext cx="457200" cy="45720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0524744" y="48006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丢失</a:t>
            </a:r>
            <a:endParaRPr lang="en-US" sz="2200" dirty="0"/>
          </a:p>
        </p:txBody>
      </p:sp>
      <p:sp>
        <p:nvSpPr>
          <p:cNvPr id="38" name="Shape 29"/>
          <p:cNvSpPr/>
          <p:nvPr/>
        </p:nvSpPr>
        <p:spPr>
          <a:xfrm>
            <a:off x="530352" y="5806440"/>
            <a:ext cx="11128248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" y="5843016"/>
            <a:ext cx="10671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回忆，是一次“重新提取与组织”。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体验记忆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MEMORY CHALLENGE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我画我猜：让记忆留下自己的“加工痕迹”。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965960"/>
            <a:ext cx="3474720" cy="2852928"/>
          </a:xfrm>
          <a:prstGeom prst="roundRect">
            <a:avLst>
              <a:gd name="adj" fmla="val 5128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pic>
        <p:nvPicPr>
          <p:cNvPr id="13" name="Image 0" descr="/workspace/mobile-lab/experiments/006-memory-factory/assets/icons/users-36369B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80" y="2212848"/>
            <a:ext cx="566928" cy="5669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96112" y="2779776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5800" dirty="0"/>
          </a:p>
        </p:txBody>
      </p:sp>
      <p:sp>
        <p:nvSpPr>
          <p:cNvPr id="15" name="Text 12"/>
          <p:cNvSpPr/>
          <p:nvPr/>
        </p:nvSpPr>
        <p:spPr>
          <a:xfrm>
            <a:off x="914400" y="3767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名同学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914400" y="4315968"/>
            <a:ext cx="2852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负责在黑板作画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4498848" y="1965960"/>
            <a:ext cx="3474720" cy="2852928"/>
          </a:xfrm>
          <a:prstGeom prst="roundRect">
            <a:avLst>
              <a:gd name="adj" fmla="val 5128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pic>
        <p:nvPicPr>
          <p:cNvPr id="18" name="Image 1" descr="/workspace/mobile-lab/experiments/006-memory-factory/assets/icons/layers-36369B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27448" y="2212848"/>
            <a:ext cx="566928" cy="56692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754880" y="2779776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</a:t>
            </a:r>
            <a:endParaRPr lang="en-US" sz="5800" dirty="0"/>
          </a:p>
        </p:txBody>
      </p:sp>
      <p:sp>
        <p:nvSpPr>
          <p:cNvPr id="20" name="Text 16"/>
          <p:cNvSpPr/>
          <p:nvPr/>
        </p:nvSpPr>
        <p:spPr>
          <a:xfrm>
            <a:off x="4773168" y="3767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个词语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4773168" y="4315968"/>
            <a:ext cx="2852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全班一起尝试记忆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8357616" y="1965960"/>
            <a:ext cx="3474720" cy="2852928"/>
          </a:xfrm>
          <a:prstGeom prst="roundRect">
            <a:avLst>
              <a:gd name="adj" fmla="val 5128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pic>
        <p:nvPicPr>
          <p:cNvPr id="23" name="Image 2" descr="/workspace/mobile-lab/experiments/006-memory-factory/assets/icons/timer-36369B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86216" y="2212848"/>
            <a:ext cx="566928" cy="56692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613648" y="2779776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3s</a:t>
            </a:r>
            <a:endParaRPr lang="en-US" sz="5800" dirty="0"/>
          </a:p>
        </p:txBody>
      </p:sp>
      <p:sp>
        <p:nvSpPr>
          <p:cNvPr id="25" name="Text 20"/>
          <p:cNvSpPr/>
          <p:nvPr/>
        </p:nvSpPr>
        <p:spPr>
          <a:xfrm>
            <a:off x="8631936" y="3767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每个词</a:t>
            </a:r>
            <a:endParaRPr lang="en-US" sz="2400" dirty="0"/>
          </a:p>
        </p:txBody>
      </p:sp>
      <p:sp>
        <p:nvSpPr>
          <p:cNvPr id="26" name="Text 21"/>
          <p:cNvSpPr/>
          <p:nvPr/>
        </p:nvSpPr>
        <p:spPr>
          <a:xfrm>
            <a:off x="8631936" y="4315968"/>
            <a:ext cx="2852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听词、画图、继续</a:t>
            </a:r>
            <a:endParaRPr lang="en-US" sz="1700" dirty="0"/>
          </a:p>
        </p:txBody>
      </p:sp>
      <p:pic>
        <p:nvPicPr>
          <p:cNvPr id="27" name="Image 3" descr="/workspace/mobile-lab/experiments/006-memory-factory/assets/icons/pencil-off-F39A45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4400" y="5239512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554480" y="51937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92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只画图，禁止写文字</a:t>
            </a:r>
            <a:endParaRPr lang="en-US" sz="2200" dirty="0"/>
          </a:p>
        </p:txBody>
      </p:sp>
      <p:pic>
        <p:nvPicPr>
          <p:cNvPr id="29" name="Image 4" descr="/workspace/mobile-lab/experiments/006-memory-factory/assets/icons/hand-36369B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00800" y="5239512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040880" y="519379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92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随机提问，全班抢答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530352" y="5897880"/>
            <a:ext cx="11128248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58952" y="5934456"/>
            <a:ext cx="10671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不比画技，观察：什么更容易被记住？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体验记忆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刚才，你的大脑做了什么？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同一个词，经历了好几道加工。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377440"/>
            <a:ext cx="1965960" cy="2221992"/>
          </a:xfrm>
          <a:prstGeom prst="roundRect">
            <a:avLst>
              <a:gd name="adj" fmla="val 744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1938528"/>
            <a:ext cx="585216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" y="1938528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600" dirty="0"/>
          </a:p>
        </p:txBody>
      </p:sp>
      <p:pic>
        <p:nvPicPr>
          <p:cNvPr id="15" name="Image 0" descr="/workspace/mobile-lab/experiments/006-memory-factory/assets/icons/ear-36369B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35024" y="2688336"/>
            <a:ext cx="621792" cy="62179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31520" y="36027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听到词语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740664" y="414223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声音输入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2606040" y="3364992"/>
            <a:ext cx="265176" cy="0"/>
          </a:xfrm>
          <a:prstGeom prst="line">
            <a:avLst/>
          </a:prstGeom>
          <a:noFill/>
          <a:ln w="2286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1645920" y="4617720"/>
            <a:ext cx="0" cy="429768"/>
          </a:xfrm>
          <a:prstGeom prst="line">
            <a:avLst/>
          </a:prstGeom>
          <a:noFill/>
          <a:ln w="1905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1261872" y="5074920"/>
            <a:ext cx="768096" cy="329184"/>
          </a:xfrm>
          <a:prstGeom prst="roundRect">
            <a:avLst>
              <a:gd name="adj" fmla="val 44444"/>
            </a:avLst>
          </a:prstGeom>
          <a:solidFill>
            <a:srgbClr val="E9E9F1"/>
          </a:solidFill>
          <a:ln w="12700">
            <a:solidFill>
              <a:srgbClr val="E9E9F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26464" y="5504688"/>
            <a:ext cx="448056" cy="146304"/>
          </a:xfrm>
          <a:prstGeom prst="roundRect">
            <a:avLst>
              <a:gd name="adj" fmla="val 100000"/>
            </a:avLst>
          </a:prstGeom>
          <a:solidFill>
            <a:srgbClr val="F0F0F6"/>
          </a:solidFill>
          <a:ln w="12700">
            <a:solidFill>
              <a:srgbClr val="F0F0F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98648" y="2377440"/>
            <a:ext cx="1965960" cy="2221992"/>
          </a:xfrm>
          <a:prstGeom prst="roundRect">
            <a:avLst>
              <a:gd name="adj" fmla="val 744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054096" y="1938528"/>
            <a:ext cx="585216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127248" y="1938528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600" dirty="0"/>
          </a:p>
        </p:txBody>
      </p:sp>
      <p:pic>
        <p:nvPicPr>
          <p:cNvPr id="25" name="Image 1" descr="/workspace/mobile-lab/experiments/006-memory-factory/assets/icons/lightbulb-36369B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1880" y="2688336"/>
            <a:ext cx="621792" cy="621792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008376" y="36027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形成画面</a:t>
            </a:r>
            <a:endParaRPr lang="en-US" sz="2100" dirty="0"/>
          </a:p>
        </p:txBody>
      </p:sp>
      <p:sp>
        <p:nvSpPr>
          <p:cNvPr id="27" name="Text 23"/>
          <p:cNvSpPr/>
          <p:nvPr/>
        </p:nvSpPr>
        <p:spPr>
          <a:xfrm>
            <a:off x="3017520" y="414223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调动已有经验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4882896" y="3364992"/>
            <a:ext cx="265176" cy="0"/>
          </a:xfrm>
          <a:prstGeom prst="line">
            <a:avLst/>
          </a:prstGeom>
          <a:noFill/>
          <a:ln w="2286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175504" y="2377440"/>
            <a:ext cx="1965960" cy="2221992"/>
          </a:xfrm>
          <a:prstGeom prst="roundRect">
            <a:avLst>
              <a:gd name="adj" fmla="val 7442"/>
            </a:avLst>
          </a:prstGeom>
          <a:solidFill>
            <a:srgbClr val="EEEDF9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330952" y="1938528"/>
            <a:ext cx="585216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404104" y="1938528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600" dirty="0"/>
          </a:p>
        </p:txBody>
      </p:sp>
      <p:pic>
        <p:nvPicPr>
          <p:cNvPr id="32" name="Image 2" descr="/workspace/mobile-lab/experiments/006-memory-factory/assets/icons/pencil-7655CE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8736" y="2688336"/>
            <a:ext cx="621792" cy="621792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5285232" y="36027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画下来</a:t>
            </a:r>
            <a:endParaRPr lang="en-US" sz="2100" dirty="0"/>
          </a:p>
        </p:txBody>
      </p:sp>
      <p:sp>
        <p:nvSpPr>
          <p:cNvPr id="34" name="Text 29"/>
          <p:cNvSpPr/>
          <p:nvPr/>
        </p:nvSpPr>
        <p:spPr>
          <a:xfrm>
            <a:off x="5294376" y="414223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转换表达方式</a:t>
            </a:r>
            <a:endParaRPr lang="en-US" sz="1600" dirty="0"/>
          </a:p>
        </p:txBody>
      </p:sp>
      <p:sp>
        <p:nvSpPr>
          <p:cNvPr id="35" name="Shape 30"/>
          <p:cNvSpPr/>
          <p:nvPr/>
        </p:nvSpPr>
        <p:spPr>
          <a:xfrm>
            <a:off x="7159752" y="3364992"/>
            <a:ext cx="265176" cy="0"/>
          </a:xfrm>
          <a:prstGeom prst="line">
            <a:avLst/>
          </a:prstGeom>
          <a:noFill/>
          <a:ln w="2286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36" name="Shape 31"/>
          <p:cNvSpPr/>
          <p:nvPr/>
        </p:nvSpPr>
        <p:spPr>
          <a:xfrm>
            <a:off x="7452360" y="2377440"/>
            <a:ext cx="1965960" cy="2221992"/>
          </a:xfrm>
          <a:prstGeom prst="roundRect">
            <a:avLst>
              <a:gd name="adj" fmla="val 744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7607808" y="1938528"/>
            <a:ext cx="585216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7680960" y="1938528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600" dirty="0"/>
          </a:p>
        </p:txBody>
      </p:sp>
      <p:pic>
        <p:nvPicPr>
          <p:cNvPr id="39" name="Image 3" descr="/workspace/mobile-lab/experiments/006-memory-factory/assets/icons/layers-36369B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65592" y="2688336"/>
            <a:ext cx="621792" cy="621792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562088" y="36027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继续记忆</a:t>
            </a:r>
            <a:endParaRPr lang="en-US" sz="2100" dirty="0"/>
          </a:p>
        </p:txBody>
      </p:sp>
      <p:sp>
        <p:nvSpPr>
          <p:cNvPr id="41" name="Text 35"/>
          <p:cNvSpPr/>
          <p:nvPr/>
        </p:nvSpPr>
        <p:spPr>
          <a:xfrm>
            <a:off x="7571232" y="414223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新信息不断进入</a:t>
            </a:r>
            <a:endParaRPr lang="en-US" sz="1600" dirty="0"/>
          </a:p>
        </p:txBody>
      </p:sp>
      <p:sp>
        <p:nvSpPr>
          <p:cNvPr id="42" name="Shape 36"/>
          <p:cNvSpPr/>
          <p:nvPr/>
        </p:nvSpPr>
        <p:spPr>
          <a:xfrm>
            <a:off x="9436608" y="3364992"/>
            <a:ext cx="265176" cy="0"/>
          </a:xfrm>
          <a:prstGeom prst="line">
            <a:avLst/>
          </a:prstGeom>
          <a:noFill/>
          <a:ln w="2286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43" name="Shape 37"/>
          <p:cNvSpPr/>
          <p:nvPr/>
        </p:nvSpPr>
        <p:spPr>
          <a:xfrm>
            <a:off x="8476488" y="4617720"/>
            <a:ext cx="0" cy="429768"/>
          </a:xfrm>
          <a:prstGeom prst="line">
            <a:avLst/>
          </a:prstGeom>
          <a:noFill/>
          <a:ln w="1905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44" name="Shape 38"/>
          <p:cNvSpPr/>
          <p:nvPr/>
        </p:nvSpPr>
        <p:spPr>
          <a:xfrm>
            <a:off x="8092440" y="5074920"/>
            <a:ext cx="768096" cy="329184"/>
          </a:xfrm>
          <a:prstGeom prst="roundRect">
            <a:avLst>
              <a:gd name="adj" fmla="val 44444"/>
            </a:avLst>
          </a:prstGeom>
          <a:solidFill>
            <a:srgbClr val="E9E9F1"/>
          </a:solidFill>
          <a:ln w="12700">
            <a:solidFill>
              <a:srgbClr val="E9E9F1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257032" y="5504688"/>
            <a:ext cx="448056" cy="146304"/>
          </a:xfrm>
          <a:prstGeom prst="roundRect">
            <a:avLst>
              <a:gd name="adj" fmla="val 100000"/>
            </a:avLst>
          </a:prstGeom>
          <a:solidFill>
            <a:srgbClr val="F0F0F6"/>
          </a:solidFill>
          <a:ln w="12700">
            <a:solidFill>
              <a:srgbClr val="F0F0F6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9729216" y="2377440"/>
            <a:ext cx="1965960" cy="2221992"/>
          </a:xfrm>
          <a:prstGeom prst="roundRect">
            <a:avLst>
              <a:gd name="adj" fmla="val 744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9884664" y="1938528"/>
            <a:ext cx="585216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957816" y="1938528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</a:t>
            </a:r>
            <a:endParaRPr lang="en-US" sz="1600" dirty="0"/>
          </a:p>
        </p:txBody>
      </p:sp>
      <p:pic>
        <p:nvPicPr>
          <p:cNvPr id="49" name="Image 4" descr="/workspace/mobile-lab/experiments/006-memory-factory/assets/icons/message-circle-36369B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42448" y="2688336"/>
            <a:ext cx="621792" cy="621792"/>
          </a:xfrm>
          <a:prstGeom prst="rect">
            <a:avLst/>
          </a:prstGeom>
        </p:spPr>
      </p:pic>
      <p:sp>
        <p:nvSpPr>
          <p:cNvPr id="50" name="Text 43"/>
          <p:cNvSpPr/>
          <p:nvPr/>
        </p:nvSpPr>
        <p:spPr>
          <a:xfrm>
            <a:off x="9838944" y="36027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随机回忆</a:t>
            </a:r>
            <a:endParaRPr lang="en-US" sz="2100" dirty="0"/>
          </a:p>
        </p:txBody>
      </p:sp>
      <p:sp>
        <p:nvSpPr>
          <p:cNvPr id="51" name="Text 44"/>
          <p:cNvSpPr/>
          <p:nvPr/>
        </p:nvSpPr>
        <p:spPr>
          <a:xfrm>
            <a:off x="9848088" y="414223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寻找提取线索</a:t>
            </a:r>
            <a:endParaRPr lang="en-US" sz="1600" dirty="0"/>
          </a:p>
        </p:txBody>
      </p:sp>
      <p:sp>
        <p:nvSpPr>
          <p:cNvPr id="52" name="Shape 45"/>
          <p:cNvSpPr/>
          <p:nvPr/>
        </p:nvSpPr>
        <p:spPr>
          <a:xfrm>
            <a:off x="530352" y="5806440"/>
            <a:ext cx="11128248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" y="5843016"/>
            <a:ext cx="10671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为什么有些东西留下来了，有些消失了？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认识记忆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记忆，是加工后留下的痕迹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见过、听过、想过、做过、经历过，都可能成为材料。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67328" y="1920240"/>
            <a:ext cx="3840480" cy="3474720"/>
          </a:xfrm>
          <a:prstGeom prst="roundRect">
            <a:avLst>
              <a:gd name="adj" fmla="val 421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pic>
        <p:nvPicPr>
          <p:cNvPr id="13" name="Image 0" descr="/workspace/mobile-lab/experiments/006-memory-factory/assets/illustrations/brai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69080" y="2487168"/>
            <a:ext cx="3246120" cy="2432304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069080" y="4800600"/>
            <a:ext cx="3246120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42232" y="480060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 → 保持 → 提取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77240" y="2011680"/>
            <a:ext cx="210312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17" name="Image 1" descr="/workspace/mobile-lab/experiments/006-memory-factory/assets/icons/eye-3975D7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3544" y="2176272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00200" y="217627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见过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2907792" y="2414016"/>
            <a:ext cx="822960" cy="420624"/>
          </a:xfrm>
          <a:prstGeom prst="line">
            <a:avLst/>
          </a:prstGeom>
          <a:noFill/>
          <a:ln w="19050">
            <a:solidFill>
              <a:srgbClr val="3975D7"/>
            </a:solidFill>
            <a:prstDash val="solid"/>
            <a:headEnd type="none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777240" y="3319272"/>
            <a:ext cx="210312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1" name="Image 2" descr="/workspace/mobile-lab/experiments/006-memory-factory/assets/icons/ear-3975D7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3544" y="3483864"/>
            <a:ext cx="438912" cy="43891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600200" y="348386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听过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 flipV="1">
            <a:off x="2907792" y="3488436"/>
            <a:ext cx="822960" cy="233172"/>
          </a:xfrm>
          <a:prstGeom prst="line">
            <a:avLst/>
          </a:prstGeom>
          <a:noFill/>
          <a:ln w="19050">
            <a:solidFill>
              <a:srgbClr val="3975D7"/>
            </a:solidFill>
            <a:prstDash val="solid"/>
            <a:headEnd type="none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777240" y="4626864"/>
            <a:ext cx="210312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5" name="Image 3" descr="/workspace/mobile-lab/experiments/006-memory-factory/assets/icons/sparkles-3975D7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3544" y="4791456"/>
            <a:ext cx="438912" cy="43891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00200" y="47914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想过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 flipV="1">
            <a:off x="2907792" y="4142232"/>
            <a:ext cx="822960" cy="886968"/>
          </a:xfrm>
          <a:prstGeom prst="line">
            <a:avLst/>
          </a:prstGeom>
          <a:noFill/>
          <a:ln w="19050">
            <a:solidFill>
              <a:srgbClr val="3975D7"/>
            </a:solidFill>
            <a:prstDash val="solid"/>
            <a:headEnd type="none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8412480" y="2011680"/>
            <a:ext cx="278892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9" name="Image 4" descr="/workspace/mobile-lab/experiments/006-memory-factory/assets/icons/hand-7655CE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58784" y="2176272"/>
            <a:ext cx="438912" cy="43891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235440" y="21762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做过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 flipH="1">
            <a:off x="7653528" y="2414016"/>
            <a:ext cx="722376" cy="512064"/>
          </a:xfrm>
          <a:prstGeom prst="line">
            <a:avLst/>
          </a:prstGeom>
          <a:noFill/>
          <a:ln w="19050">
            <a:solidFill>
              <a:srgbClr val="7655CE"/>
            </a:solidFill>
            <a:prstDash val="solid"/>
            <a:headEnd type="none"/>
            <a:tailEnd type="triangle"/>
          </a:ln>
        </p:spPr>
      </p:sp>
      <p:sp>
        <p:nvSpPr>
          <p:cNvPr id="32" name="Shape 25"/>
          <p:cNvSpPr/>
          <p:nvPr/>
        </p:nvSpPr>
        <p:spPr>
          <a:xfrm>
            <a:off x="8412480" y="3319272"/>
            <a:ext cx="278892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3" name="Image 5" descr="/workspace/mobile-lab/experiments/006-memory-factory/assets/icons/footprints-7655CE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58784" y="3483864"/>
            <a:ext cx="438912" cy="43891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235440" y="348386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经历过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 flipH="1" flipV="1">
            <a:off x="7653528" y="3579876"/>
            <a:ext cx="722376" cy="141732"/>
          </a:xfrm>
          <a:prstGeom prst="line">
            <a:avLst/>
          </a:prstGeom>
          <a:noFill/>
          <a:ln w="19050">
            <a:solidFill>
              <a:srgbClr val="7655CE"/>
            </a:solidFill>
            <a:prstDash val="solid"/>
            <a:headEnd type="none"/>
            <a:tailEnd type="triangle"/>
          </a:ln>
        </p:spPr>
      </p:sp>
      <p:sp>
        <p:nvSpPr>
          <p:cNvPr id="36" name="Shape 28"/>
          <p:cNvSpPr/>
          <p:nvPr/>
        </p:nvSpPr>
        <p:spPr>
          <a:xfrm>
            <a:off x="8412480" y="4572000"/>
            <a:ext cx="2788920" cy="859536"/>
          </a:xfrm>
          <a:prstGeom prst="roundRect">
            <a:avLst>
              <a:gd name="adj" fmla="val 17021"/>
            </a:avLst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8567928" y="47274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加工后的痕迹</a:t>
            </a:r>
            <a:endParaRPr lang="en-US" sz="2300" dirty="0"/>
          </a:p>
        </p:txBody>
      </p:sp>
      <p:sp>
        <p:nvSpPr>
          <p:cNvPr id="38" name="Shape 30"/>
          <p:cNvSpPr/>
          <p:nvPr/>
        </p:nvSpPr>
        <p:spPr>
          <a:xfrm>
            <a:off x="7635240" y="4663440"/>
            <a:ext cx="740664" cy="310896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39" name="Shape 31"/>
          <p:cNvSpPr/>
          <p:nvPr/>
        </p:nvSpPr>
        <p:spPr>
          <a:xfrm>
            <a:off x="530352" y="5806440"/>
            <a:ext cx="11128248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58952" y="5843016"/>
            <a:ext cx="10671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MEMORY ≠ VIDEO  ·  记忆不是原版录像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记忆三车间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记忆三车间：信息怎样留下来？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一张地图，读懂“进入—筛选—加工—保存”。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" y="2231136"/>
            <a:ext cx="1261872" cy="2706624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2432304"/>
            <a:ext cx="868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外界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信息</a:t>
            </a:r>
            <a:endParaRPr lang="en-US" sz="2300" dirty="0"/>
          </a:p>
        </p:txBody>
      </p:sp>
      <p:pic>
        <p:nvPicPr>
          <p:cNvPr id="14" name="Image 0" descr="/workspace/mobile-lab/experiments/006-memory-factory/assets/icons/eye-3975D7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976" y="3429000"/>
            <a:ext cx="329184" cy="329184"/>
          </a:xfrm>
          <a:prstGeom prst="rect">
            <a:avLst/>
          </a:prstGeom>
        </p:spPr>
      </p:pic>
      <p:pic>
        <p:nvPicPr>
          <p:cNvPr id="15" name="Image 1" descr="/workspace/mobile-lab/experiments/006-memory-factory/assets/icons/ear-3975D7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0976" y="3877056"/>
            <a:ext cx="329184" cy="329184"/>
          </a:xfrm>
          <a:prstGeom prst="rect">
            <a:avLst/>
          </a:prstGeom>
        </p:spPr>
      </p:pic>
      <p:pic>
        <p:nvPicPr>
          <p:cNvPr id="16" name="Image 2" descr="/workspace/mobile-lab/experiments/006-memory-factory/assets/icons/hand-3975D7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0976" y="4325112"/>
            <a:ext cx="329184" cy="32918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874520" y="3566160"/>
            <a:ext cx="411480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2331720" y="2231136"/>
            <a:ext cx="2606040" cy="2706624"/>
          </a:xfrm>
          <a:prstGeom prst="roundRect">
            <a:avLst>
              <a:gd name="adj" fmla="val 5614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2496312" y="2432304"/>
            <a:ext cx="512064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2569464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3127248" y="244144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感觉记忆</a:t>
            </a:r>
            <a:endParaRPr lang="en-US" sz="2400" dirty="0"/>
          </a:p>
        </p:txBody>
      </p:sp>
      <p:pic>
        <p:nvPicPr>
          <p:cNvPr id="22" name="Image 3" descr="/workspace/mobile-lab/experiments/006-memory-factory/assets/icons/scan-eye-3975D7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64408" y="30632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468880" y="397764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0.25–2 秒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2478024" y="44897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瞬间快照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3630168" y="4956048"/>
            <a:ext cx="0" cy="420624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2404872" y="5449824"/>
            <a:ext cx="2459736" cy="365760"/>
          </a:xfrm>
          <a:prstGeom prst="roundRect">
            <a:avLst>
              <a:gd name="adj" fmla="val 40000"/>
            </a:avLst>
          </a:prstGeom>
          <a:solidFill>
            <a:srgbClr val="EEEEF3"/>
          </a:solidFill>
          <a:ln w="12700">
            <a:solidFill>
              <a:srgbClr val="EEEEF3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478024" y="5449824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遗忘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965192" y="3566160"/>
            <a:ext cx="475488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5486400" y="2231136"/>
            <a:ext cx="2606040" cy="2706624"/>
          </a:xfrm>
          <a:prstGeom prst="roundRect">
            <a:avLst>
              <a:gd name="adj" fmla="val 5614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650992" y="2432304"/>
            <a:ext cx="512064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724144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600" dirty="0"/>
          </a:p>
        </p:txBody>
      </p:sp>
      <p:sp>
        <p:nvSpPr>
          <p:cNvPr id="32" name="Text 26"/>
          <p:cNvSpPr/>
          <p:nvPr/>
        </p:nvSpPr>
        <p:spPr>
          <a:xfrm>
            <a:off x="6281928" y="244144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短时记忆</a:t>
            </a:r>
            <a:endParaRPr lang="en-US" sz="2400" dirty="0"/>
          </a:p>
        </p:txBody>
      </p:sp>
      <p:pic>
        <p:nvPicPr>
          <p:cNvPr id="33" name="Image 4" descr="/workspace/mobile-lab/experiments/006-memory-factory/assets/icons/panels-top-left-7655CE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19088" y="3063240"/>
            <a:ext cx="731520" cy="73152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623560" y="397764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1秒–1分钟</a:t>
            </a:r>
            <a:endParaRPr lang="en-US" sz="2400" dirty="0"/>
          </a:p>
        </p:txBody>
      </p:sp>
      <p:sp>
        <p:nvSpPr>
          <p:cNvPr id="35" name="Text 28"/>
          <p:cNvSpPr/>
          <p:nvPr/>
        </p:nvSpPr>
        <p:spPr>
          <a:xfrm>
            <a:off x="5632704" y="44897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7±2 组块*</a:t>
            </a:r>
            <a:endParaRPr lang="en-US" sz="1700" dirty="0"/>
          </a:p>
        </p:txBody>
      </p:sp>
      <p:sp>
        <p:nvSpPr>
          <p:cNvPr id="36" name="Shape 29"/>
          <p:cNvSpPr/>
          <p:nvPr/>
        </p:nvSpPr>
        <p:spPr>
          <a:xfrm>
            <a:off x="6784848" y="4956048"/>
            <a:ext cx="0" cy="420624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37" name="Shape 30"/>
          <p:cNvSpPr/>
          <p:nvPr/>
        </p:nvSpPr>
        <p:spPr>
          <a:xfrm>
            <a:off x="5559552" y="5449824"/>
            <a:ext cx="2459736" cy="365760"/>
          </a:xfrm>
          <a:prstGeom prst="roundRect">
            <a:avLst>
              <a:gd name="adj" fmla="val 40000"/>
            </a:avLst>
          </a:prstGeom>
          <a:solidFill>
            <a:srgbClr val="EEEEF3"/>
          </a:solidFill>
          <a:ln w="12700">
            <a:solidFill>
              <a:srgbClr val="EEEEF3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5632704" y="5449824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遗忘</a:t>
            </a:r>
            <a:endParaRPr lang="en-US" sz="1800" dirty="0"/>
          </a:p>
        </p:txBody>
      </p:sp>
      <p:sp>
        <p:nvSpPr>
          <p:cNvPr id="39" name="Shape 32"/>
          <p:cNvSpPr/>
          <p:nvPr/>
        </p:nvSpPr>
        <p:spPr>
          <a:xfrm>
            <a:off x="8119872" y="3566160"/>
            <a:ext cx="475488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40" name="Shape 33"/>
          <p:cNvSpPr/>
          <p:nvPr/>
        </p:nvSpPr>
        <p:spPr>
          <a:xfrm>
            <a:off x="8641080" y="2231136"/>
            <a:ext cx="2606040" cy="2706624"/>
          </a:xfrm>
          <a:prstGeom prst="roundRect">
            <a:avLst>
              <a:gd name="adj" fmla="val 5614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805672" y="2432304"/>
            <a:ext cx="512064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8878824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600" dirty="0"/>
          </a:p>
        </p:txBody>
      </p:sp>
      <p:sp>
        <p:nvSpPr>
          <p:cNvPr id="43" name="Text 36"/>
          <p:cNvSpPr/>
          <p:nvPr/>
        </p:nvSpPr>
        <p:spPr>
          <a:xfrm>
            <a:off x="9436608" y="244144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长时记忆</a:t>
            </a:r>
            <a:endParaRPr lang="en-US" sz="2400" dirty="0"/>
          </a:p>
        </p:txBody>
      </p:sp>
      <p:pic>
        <p:nvPicPr>
          <p:cNvPr id="44" name="Image 5" descr="/workspace/mobile-lab/experiments/006-memory-factory/assets/icons/folder-open-36369B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73768" y="3063240"/>
            <a:ext cx="731520" cy="731520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8778240" y="397764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长期保存</a:t>
            </a:r>
            <a:endParaRPr lang="en-US" sz="2400" dirty="0"/>
          </a:p>
        </p:txBody>
      </p:sp>
      <p:sp>
        <p:nvSpPr>
          <p:cNvPr id="46" name="Text 38"/>
          <p:cNvSpPr/>
          <p:nvPr/>
        </p:nvSpPr>
        <p:spPr>
          <a:xfrm>
            <a:off x="8787384" y="44897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容量巨大</a:t>
            </a:r>
            <a:endParaRPr lang="en-US" sz="1700" dirty="0"/>
          </a:p>
        </p:txBody>
      </p:sp>
      <p:sp>
        <p:nvSpPr>
          <p:cNvPr id="47" name="Shape 39"/>
          <p:cNvSpPr/>
          <p:nvPr/>
        </p:nvSpPr>
        <p:spPr>
          <a:xfrm>
            <a:off x="9939528" y="4956048"/>
            <a:ext cx="0" cy="420624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48" name="Shape 40"/>
          <p:cNvSpPr/>
          <p:nvPr/>
        </p:nvSpPr>
        <p:spPr>
          <a:xfrm>
            <a:off x="8714232" y="5449824"/>
            <a:ext cx="2459736" cy="365760"/>
          </a:xfrm>
          <a:prstGeom prst="roundRect">
            <a:avLst>
              <a:gd name="adj" fmla="val 40000"/>
            </a:avLst>
          </a:prstGeom>
          <a:solidFill>
            <a:srgbClr val="EEEEF3"/>
          </a:solidFill>
          <a:ln w="12700">
            <a:solidFill>
              <a:srgbClr val="EEEEF3"/>
            </a:solidFill>
            <a:prstDash val="solid"/>
          </a:ln>
        </p:spPr>
      </p:sp>
      <p:sp>
        <p:nvSpPr>
          <p:cNvPr id="49" name="Text 41"/>
          <p:cNvSpPr/>
          <p:nvPr/>
        </p:nvSpPr>
        <p:spPr>
          <a:xfrm>
            <a:off x="8787384" y="5449824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遗忘</a:t>
            </a:r>
            <a:endParaRPr lang="en-US" sz="1800" dirty="0"/>
          </a:p>
        </p:txBody>
      </p:sp>
      <p:sp>
        <p:nvSpPr>
          <p:cNvPr id="50" name="Shape 42"/>
          <p:cNvSpPr/>
          <p:nvPr/>
        </p:nvSpPr>
        <p:spPr>
          <a:xfrm>
            <a:off x="4517136" y="1792224"/>
            <a:ext cx="1143000" cy="365760"/>
          </a:xfrm>
          <a:prstGeom prst="roundRect">
            <a:avLst>
              <a:gd name="adj" fmla="val 40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51" name="Text 43"/>
          <p:cNvSpPr/>
          <p:nvPr/>
        </p:nvSpPr>
        <p:spPr>
          <a:xfrm>
            <a:off x="4590288" y="1792224"/>
            <a:ext cx="996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注意</a:t>
            </a:r>
            <a:endParaRPr lang="en-US" sz="1800" dirty="0"/>
          </a:p>
        </p:txBody>
      </p:sp>
      <p:sp>
        <p:nvSpPr>
          <p:cNvPr id="52" name="Shape 44"/>
          <p:cNvSpPr/>
          <p:nvPr/>
        </p:nvSpPr>
        <p:spPr>
          <a:xfrm>
            <a:off x="6885432" y="1792224"/>
            <a:ext cx="3108960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45"/>
          <p:cNvSpPr/>
          <p:nvPr/>
        </p:nvSpPr>
        <p:spPr>
          <a:xfrm>
            <a:off x="6958584" y="179222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复述 / 理解 / 加工</a:t>
            </a:r>
            <a:endParaRPr lang="en-US" sz="1700" dirty="0"/>
          </a:p>
        </p:txBody>
      </p:sp>
      <p:sp>
        <p:nvSpPr>
          <p:cNvPr id="54" name="Text 46"/>
          <p:cNvSpPr/>
          <p:nvPr/>
        </p:nvSpPr>
        <p:spPr>
          <a:xfrm>
            <a:off x="658368" y="60807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* 经典短时记忆估计；时长与容量受材料、任务和策略影响。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记忆三车间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感觉记忆：瞬间快照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容量很大，停留却极短。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011680"/>
            <a:ext cx="3337560" cy="2157984"/>
          </a:xfrm>
          <a:prstGeom prst="roundRect">
            <a:avLst>
              <a:gd name="adj" fmla="val 6780"/>
            </a:avLst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2194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黑板上闪过的信息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274320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500" spc="300" kern="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山 川  日 月</a:t>
            </a:r>
            <a:endParaRPr lang="en-US" sz="2500" dirty="0"/>
          </a:p>
          <a:p>
            <a:pPr algn="ctr" indent="0" marL="0">
              <a:buNone/>
            </a:pPr>
            <a:r>
              <a:rPr lang="en-US" sz="2500" spc="300" kern="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B  7  2</a:t>
            </a:r>
            <a:endParaRPr lang="en-US" sz="2500" dirty="0"/>
          </a:p>
          <a:p>
            <a:pPr algn="ctr" indent="0" marL="0">
              <a:buNone/>
            </a:pPr>
            <a:r>
              <a:rPr lang="en-US" sz="2500" spc="300" kern="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春 风  海 星</a:t>
            </a:r>
            <a:endParaRPr lang="en-US" sz="2500" dirty="0"/>
          </a:p>
        </p:txBody>
      </p:sp>
      <p:pic>
        <p:nvPicPr>
          <p:cNvPr id="15" name="Image 0" descr="/workspace/mobile-lab/experiments/006-memory-factory/assets/icons/eye-3975D7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70248" y="2688336"/>
            <a:ext cx="722376" cy="722376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3977640" y="3054096"/>
            <a:ext cx="265176" cy="0"/>
          </a:xfrm>
          <a:prstGeom prst="line">
            <a:avLst/>
          </a:prstGeom>
          <a:noFill/>
          <a:ln w="25400">
            <a:solidFill>
              <a:srgbClr val="3975D7"/>
            </a:solidFill>
            <a:prstDash val="solid"/>
            <a:headEnd type="non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084064" y="3054096"/>
            <a:ext cx="539496" cy="0"/>
          </a:xfrm>
          <a:prstGeom prst="line">
            <a:avLst/>
          </a:prstGeom>
          <a:noFill/>
          <a:ln w="25400">
            <a:solidFill>
              <a:srgbClr val="3975D7"/>
            </a:solidFill>
            <a:prstDash val="solid"/>
            <a:headEnd type="none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760720" y="2377440"/>
            <a:ext cx="1664208" cy="1490472"/>
          </a:xfrm>
          <a:prstGeom prst="roundRect">
            <a:avLst>
              <a:gd name="adj" fmla="val 9816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16168" y="2660904"/>
            <a:ext cx="1353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山  日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 7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5669280" y="4050792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刚刚看见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7461504" y="3108960"/>
            <a:ext cx="192024" cy="0"/>
          </a:xfrm>
          <a:prstGeom prst="line">
            <a:avLst/>
          </a:prstGeom>
          <a:noFill/>
          <a:ln w="1905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7680960" y="2377440"/>
            <a:ext cx="1664208" cy="1490472"/>
          </a:xfrm>
          <a:prstGeom prst="roundRect">
            <a:avLst>
              <a:gd name="adj" fmla="val 9816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36408" y="2660904"/>
            <a:ext cx="1353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1AFE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山  日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91AFE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 7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7589520" y="4050792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迅速变淡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9381744" y="3108960"/>
            <a:ext cx="192024" cy="0"/>
          </a:xfrm>
          <a:prstGeom prst="line">
            <a:avLst/>
          </a:prstGeom>
          <a:noFill/>
          <a:ln w="1905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601200" y="2377440"/>
            <a:ext cx="1664208" cy="1490472"/>
          </a:xfrm>
          <a:prstGeom prst="roundRect">
            <a:avLst>
              <a:gd name="adj" fmla="val 9816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756648" y="2660904"/>
            <a:ext cx="1353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6E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山  日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CAD6E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 7</a:t>
            </a:r>
            <a:endParaRPr lang="en-US" sz="2600" dirty="0"/>
          </a:p>
        </p:txBody>
      </p:sp>
      <p:sp>
        <p:nvSpPr>
          <p:cNvPr id="28" name="Text 25"/>
          <p:cNvSpPr/>
          <p:nvPr/>
        </p:nvSpPr>
        <p:spPr>
          <a:xfrm>
            <a:off x="9509760" y="4050792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大部分消失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777240" y="4590288"/>
            <a:ext cx="303580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0.25–2</a:t>
            </a:r>
            <a:endParaRPr lang="en-US" sz="4300" dirty="0"/>
          </a:p>
        </p:txBody>
      </p:sp>
      <p:sp>
        <p:nvSpPr>
          <p:cNvPr id="30" name="Text 27"/>
          <p:cNvSpPr/>
          <p:nvPr/>
        </p:nvSpPr>
        <p:spPr>
          <a:xfrm>
            <a:off x="3419856" y="481888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秒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822960" y="54406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约数；不同感觉通道有所不同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620256" y="4782312"/>
            <a:ext cx="1874520" cy="365760"/>
          </a:xfrm>
          <a:prstGeom prst="roundRect">
            <a:avLst>
              <a:gd name="adj" fmla="val 40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93408" y="4782312"/>
            <a:ext cx="1728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注意闸门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8558784" y="4974336"/>
            <a:ext cx="521208" cy="0"/>
          </a:xfrm>
          <a:prstGeom prst="line">
            <a:avLst/>
          </a:prstGeom>
          <a:noFill/>
          <a:ln w="25400">
            <a:solidFill>
              <a:srgbClr val="3975D7"/>
            </a:solidFill>
            <a:prstDash val="solid"/>
            <a:headEnd type="none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9144000" y="4782312"/>
            <a:ext cx="2313432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17152" y="478231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进入短时记忆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530352" y="5897880"/>
            <a:ext cx="11128248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58952" y="5934456"/>
            <a:ext cx="10671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没有被注意的信息，很快消失。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记忆三车间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短时记忆：一张有限的工作台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新信息不断进来，桌面却不会无限变大。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956816"/>
            <a:ext cx="2962656" cy="3611880"/>
          </a:xfrm>
          <a:prstGeom prst="roundRect">
            <a:avLst>
              <a:gd name="adj" fmla="val 4938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pic>
        <p:nvPicPr>
          <p:cNvPr id="13" name="Image 0" descr="/workspace/mobile-lab/experiments/006-memory-factory/assets/icons/timer-36369B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231136"/>
            <a:ext cx="576072" cy="57607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14400" y="2980944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1秒–1分钟</a:t>
            </a:r>
            <a:endParaRPr lang="en-US" sz="2900" dirty="0"/>
          </a:p>
        </p:txBody>
      </p:sp>
      <p:sp>
        <p:nvSpPr>
          <p:cNvPr id="15" name="Text 12"/>
          <p:cNvSpPr/>
          <p:nvPr/>
        </p:nvSpPr>
        <p:spPr>
          <a:xfrm>
            <a:off x="914400" y="361188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短暂停留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91440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45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7±2</a:t>
            </a:r>
            <a:endParaRPr lang="en-US" sz="4500" dirty="0"/>
          </a:p>
        </p:txBody>
      </p:sp>
      <p:sp>
        <p:nvSpPr>
          <p:cNvPr id="17" name="Text 14"/>
          <p:cNvSpPr/>
          <p:nvPr/>
        </p:nvSpPr>
        <p:spPr>
          <a:xfrm>
            <a:off x="914400" y="5001768"/>
            <a:ext cx="2423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组块 · 经典估计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251960" y="2743200"/>
            <a:ext cx="6784848" cy="1901952"/>
          </a:xfrm>
          <a:prstGeom prst="roundRect">
            <a:avLst>
              <a:gd name="adj" fmla="val 7692"/>
            </a:avLst>
          </a:prstGeom>
          <a:solidFill>
            <a:srgbClr val="EDF3FC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78224" y="4590288"/>
            <a:ext cx="7150608" cy="155448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462272" y="4745736"/>
            <a:ext cx="164592" cy="77724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680192" y="4745736"/>
            <a:ext cx="164592" cy="77724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80560" y="3063240"/>
            <a:ext cx="1033272" cy="1097280"/>
          </a:xfrm>
          <a:prstGeom prst="roundRect">
            <a:avLst>
              <a:gd name="adj" fmla="val 14159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3" name="Image 1" descr="/workspace/mobile-lab/experiments/006-memory-factory/assets/icons/key-round-3975D7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00600" y="3227832"/>
            <a:ext cx="365760" cy="36576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4553712" y="374904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钥匙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742432" y="3063240"/>
            <a:ext cx="1033272" cy="1097280"/>
          </a:xfrm>
          <a:prstGeom prst="roundRect">
            <a:avLst>
              <a:gd name="adj" fmla="val 14159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6" name="Image 2" descr="/workspace/mobile-lab/experiments/006-memory-factory/assets/icons/sigma-3975D7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62472" y="3227832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5815584" y="374904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公式</a:t>
            </a:r>
            <a:endParaRPr lang="en-US" sz="1700" dirty="0"/>
          </a:p>
        </p:txBody>
      </p:sp>
      <p:sp>
        <p:nvSpPr>
          <p:cNvPr id="28" name="Shape 23"/>
          <p:cNvSpPr/>
          <p:nvPr/>
        </p:nvSpPr>
        <p:spPr>
          <a:xfrm>
            <a:off x="7004304" y="3063240"/>
            <a:ext cx="1033272" cy="1097280"/>
          </a:xfrm>
          <a:prstGeom prst="roundRect">
            <a:avLst>
              <a:gd name="adj" fmla="val 14159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9" name="Image 3" descr="/workspace/mobile-lab/experiments/006-memory-factory/assets/icons/languages-3975D7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24344" y="3227832"/>
            <a:ext cx="365760" cy="36576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077456" y="374904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单词</a:t>
            </a:r>
            <a:endParaRPr lang="en-US" sz="1700" dirty="0"/>
          </a:p>
        </p:txBody>
      </p:sp>
      <p:sp>
        <p:nvSpPr>
          <p:cNvPr id="31" name="Shape 25"/>
          <p:cNvSpPr/>
          <p:nvPr/>
        </p:nvSpPr>
        <p:spPr>
          <a:xfrm>
            <a:off x="8266176" y="3063240"/>
            <a:ext cx="1033272" cy="1097280"/>
          </a:xfrm>
          <a:prstGeom prst="roundRect">
            <a:avLst>
              <a:gd name="adj" fmla="val 14159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2" name="Image 4" descr="/workspace/mobile-lab/experiments/006-memory-factory/assets/icons/notebook-pen-3975D7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86216" y="3227832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8339328" y="374904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作业</a:t>
            </a:r>
            <a:endParaRPr lang="en-US" sz="1700" dirty="0"/>
          </a:p>
        </p:txBody>
      </p:sp>
      <p:sp>
        <p:nvSpPr>
          <p:cNvPr id="34" name="Shape 27"/>
          <p:cNvSpPr/>
          <p:nvPr/>
        </p:nvSpPr>
        <p:spPr>
          <a:xfrm>
            <a:off x="9528048" y="3063240"/>
            <a:ext cx="1033272" cy="1097280"/>
          </a:xfrm>
          <a:prstGeom prst="roundRect">
            <a:avLst>
              <a:gd name="adj" fmla="val 14159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5" name="Image 5" descr="/workspace/mobile-lab/experiments/006-memory-factory/assets/icons/utensils-3975D7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848088" y="3227832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601200" y="374904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晚饭</a:t>
            </a:r>
            <a:endParaRPr lang="en-US" sz="1700" dirty="0"/>
          </a:p>
        </p:txBody>
      </p:sp>
      <p:pic>
        <p:nvPicPr>
          <p:cNvPr id="37" name="Image 6" descr="/workspace/mobile-lab/experiments/006-memory-factory/assets/icons/inbox-3975D7.sv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434840" y="1965960"/>
            <a:ext cx="438912" cy="438912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5029200" y="2194560"/>
            <a:ext cx="548640" cy="457200"/>
          </a:xfrm>
          <a:prstGeom prst="line">
            <a:avLst/>
          </a:prstGeom>
          <a:noFill/>
          <a:ln w="25400">
            <a:solidFill>
              <a:srgbClr val="3975D7"/>
            </a:solidFill>
            <a:prstDash val="solid"/>
            <a:headEnd type="none"/>
            <a:tailEnd type="triangle"/>
          </a:ln>
        </p:spPr>
      </p:sp>
      <p:sp>
        <p:nvSpPr>
          <p:cNvPr id="39" name="Text 30"/>
          <p:cNvSpPr/>
          <p:nvPr/>
        </p:nvSpPr>
        <p:spPr>
          <a:xfrm>
            <a:off x="512064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更多信息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 rot="960000">
            <a:off x="10789920" y="5120640"/>
            <a:ext cx="749808" cy="493776"/>
          </a:xfrm>
          <a:prstGeom prst="roundRect">
            <a:avLst>
              <a:gd name="adj" fmla="val 14815"/>
            </a:avLst>
          </a:prstGeom>
          <a:solidFill>
            <a:srgbClr val="E9E9F2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 rot="960000">
            <a:off x="10835640" y="51846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挤出</a:t>
            </a:r>
            <a:endParaRPr lang="en-US" sz="1600" dirty="0"/>
          </a:p>
        </p:txBody>
      </p:sp>
      <p:sp>
        <p:nvSpPr>
          <p:cNvPr id="42" name="Shape 33"/>
          <p:cNvSpPr/>
          <p:nvPr/>
        </p:nvSpPr>
        <p:spPr>
          <a:xfrm>
            <a:off x="11137392" y="4389120"/>
            <a:ext cx="128016" cy="621792"/>
          </a:xfrm>
          <a:prstGeom prst="line">
            <a:avLst/>
          </a:prstGeom>
          <a:noFill/>
          <a:ln w="25400">
            <a:solidFill>
              <a:srgbClr val="F39A45"/>
            </a:solidFill>
            <a:prstDash val="solid"/>
            <a:headEnd type="none"/>
            <a:tailEnd type="triangle"/>
          </a:ln>
        </p:spPr>
      </p:sp>
      <p:sp>
        <p:nvSpPr>
          <p:cNvPr id="43" name="Text 34"/>
          <p:cNvSpPr/>
          <p:nvPr/>
        </p:nvSpPr>
        <p:spPr>
          <a:xfrm>
            <a:off x="7443216" y="5120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容量有限</a:t>
            </a:r>
            <a:endParaRPr lang="en-US" sz="2300" dirty="0"/>
          </a:p>
        </p:txBody>
      </p:sp>
      <p:sp>
        <p:nvSpPr>
          <p:cNvPr id="44" name="Shape 35"/>
          <p:cNvSpPr/>
          <p:nvPr/>
        </p:nvSpPr>
        <p:spPr>
          <a:xfrm>
            <a:off x="530352" y="5888736"/>
            <a:ext cx="11128248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758952" y="5925312"/>
            <a:ext cx="10671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会复述、能分组，工作台就更好用。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记忆三车间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组块化：把信息打包得更聪明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两行使用完全相同的字母，只改变组织方式。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1883664"/>
            <a:ext cx="1600200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1883664"/>
            <a:ext cx="1453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· 分散记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58952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1591056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91056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2423160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23160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3255264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55264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4087368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87368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</a:t>
            </a:r>
            <a:endParaRPr lang="en-US" sz="2700" dirty="0"/>
          </a:p>
        </p:txBody>
      </p:sp>
      <p:sp>
        <p:nvSpPr>
          <p:cNvPr id="24" name="Shape 22"/>
          <p:cNvSpPr/>
          <p:nvPr/>
        </p:nvSpPr>
        <p:spPr>
          <a:xfrm>
            <a:off x="4919472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19472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</a:t>
            </a:r>
            <a:endParaRPr lang="en-US" sz="2700" dirty="0"/>
          </a:p>
        </p:txBody>
      </p:sp>
      <p:sp>
        <p:nvSpPr>
          <p:cNvPr id="26" name="Shape 24"/>
          <p:cNvSpPr/>
          <p:nvPr/>
        </p:nvSpPr>
        <p:spPr>
          <a:xfrm>
            <a:off x="5751576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51576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</a:t>
            </a:r>
            <a:endParaRPr lang="en-US" sz="2700" dirty="0"/>
          </a:p>
        </p:txBody>
      </p:sp>
      <p:sp>
        <p:nvSpPr>
          <p:cNvPr id="28" name="Shape 26"/>
          <p:cNvSpPr/>
          <p:nvPr/>
        </p:nvSpPr>
        <p:spPr>
          <a:xfrm>
            <a:off x="6583680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0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</a:t>
            </a:r>
            <a:endParaRPr lang="en-US" sz="2700" dirty="0"/>
          </a:p>
        </p:txBody>
      </p:sp>
      <p:sp>
        <p:nvSpPr>
          <p:cNvPr id="30" name="Shape 28"/>
          <p:cNvSpPr/>
          <p:nvPr/>
        </p:nvSpPr>
        <p:spPr>
          <a:xfrm>
            <a:off x="7415784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15784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</a:t>
            </a:r>
            <a:endParaRPr lang="en-US" sz="2700" dirty="0"/>
          </a:p>
        </p:txBody>
      </p:sp>
      <p:sp>
        <p:nvSpPr>
          <p:cNvPr id="32" name="Shape 30"/>
          <p:cNvSpPr/>
          <p:nvPr/>
        </p:nvSpPr>
        <p:spPr>
          <a:xfrm>
            <a:off x="8247888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47888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</a:t>
            </a:r>
            <a:endParaRPr lang="en-US" sz="2700" dirty="0"/>
          </a:p>
        </p:txBody>
      </p:sp>
      <p:sp>
        <p:nvSpPr>
          <p:cNvPr id="34" name="Shape 32"/>
          <p:cNvSpPr/>
          <p:nvPr/>
        </p:nvSpPr>
        <p:spPr>
          <a:xfrm>
            <a:off x="9079992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79992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</a:t>
            </a:r>
            <a:endParaRPr lang="en-US" sz="2700" dirty="0"/>
          </a:p>
        </p:txBody>
      </p:sp>
      <p:sp>
        <p:nvSpPr>
          <p:cNvPr id="36" name="Shape 34"/>
          <p:cNvSpPr/>
          <p:nvPr/>
        </p:nvSpPr>
        <p:spPr>
          <a:xfrm>
            <a:off x="9912096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12096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</a:t>
            </a:r>
            <a:endParaRPr lang="en-US" sz="2700" dirty="0"/>
          </a:p>
        </p:txBody>
      </p:sp>
      <p:sp>
        <p:nvSpPr>
          <p:cNvPr id="38" name="Shape 36"/>
          <p:cNvSpPr/>
          <p:nvPr/>
        </p:nvSpPr>
        <p:spPr>
          <a:xfrm>
            <a:off x="10744200" y="2468880"/>
            <a:ext cx="658368" cy="74066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44200" y="2615184"/>
            <a:ext cx="6583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</a:t>
            </a:r>
            <a:endParaRPr lang="en-US" sz="2700" dirty="0"/>
          </a:p>
        </p:txBody>
      </p:sp>
      <p:sp>
        <p:nvSpPr>
          <p:cNvPr id="40" name="Shape 38"/>
          <p:cNvSpPr/>
          <p:nvPr/>
        </p:nvSpPr>
        <p:spPr>
          <a:xfrm>
            <a:off x="6089904" y="3337560"/>
            <a:ext cx="0" cy="384048"/>
          </a:xfrm>
          <a:prstGeom prst="line">
            <a:avLst/>
          </a:prstGeom>
          <a:noFill/>
          <a:ln w="25400">
            <a:solidFill>
              <a:srgbClr val="7655CE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4224528" y="3794760"/>
            <a:ext cx="3749040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97680" y="3794760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CHUNKING / 组块化</a:t>
            </a:r>
            <a:endParaRPr lang="en-US" sz="2200" dirty="0"/>
          </a:p>
        </p:txBody>
      </p:sp>
      <p:sp>
        <p:nvSpPr>
          <p:cNvPr id="43" name="Shape 41"/>
          <p:cNvSpPr/>
          <p:nvPr/>
        </p:nvSpPr>
        <p:spPr>
          <a:xfrm>
            <a:off x="768096" y="4517136"/>
            <a:ext cx="3474720" cy="1005840"/>
          </a:xfrm>
          <a:prstGeom prst="roundRect">
            <a:avLst>
              <a:gd name="adj" fmla="val 14545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32688" y="4645152"/>
            <a:ext cx="3145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CCTV</a:t>
            </a:r>
            <a:endParaRPr lang="en-US" sz="3000" dirty="0"/>
          </a:p>
        </p:txBody>
      </p:sp>
      <p:sp>
        <p:nvSpPr>
          <p:cNvPr id="45" name="Text 43"/>
          <p:cNvSpPr/>
          <p:nvPr/>
        </p:nvSpPr>
        <p:spPr>
          <a:xfrm>
            <a:off x="859536" y="5193792"/>
            <a:ext cx="3291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熟悉的频道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626864" y="4517136"/>
            <a:ext cx="3474720" cy="1005840"/>
          </a:xfrm>
          <a:prstGeom prst="roundRect">
            <a:avLst>
              <a:gd name="adj" fmla="val 14545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91456" y="4645152"/>
            <a:ext cx="3145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NBA</a:t>
            </a:r>
            <a:endParaRPr lang="en-US" sz="3000" dirty="0"/>
          </a:p>
        </p:txBody>
      </p:sp>
      <p:sp>
        <p:nvSpPr>
          <p:cNvPr id="48" name="Text 46"/>
          <p:cNvSpPr/>
          <p:nvPr/>
        </p:nvSpPr>
        <p:spPr>
          <a:xfrm>
            <a:off x="4718304" y="5193792"/>
            <a:ext cx="3291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熟悉的联赛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485632" y="4517136"/>
            <a:ext cx="3474720" cy="1005840"/>
          </a:xfrm>
          <a:prstGeom prst="roundRect">
            <a:avLst>
              <a:gd name="adj" fmla="val 14545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50224" y="4645152"/>
            <a:ext cx="3145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UNESCO</a:t>
            </a:r>
            <a:endParaRPr lang="en-US" sz="3000" dirty="0"/>
          </a:p>
        </p:txBody>
      </p:sp>
      <p:sp>
        <p:nvSpPr>
          <p:cNvPr id="51" name="Text 49"/>
          <p:cNvSpPr/>
          <p:nvPr/>
        </p:nvSpPr>
        <p:spPr>
          <a:xfrm>
            <a:off x="8577072" y="5193792"/>
            <a:ext cx="3291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联合国教科文组织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530352" y="5888736"/>
            <a:ext cx="11128248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8952" y="5925312"/>
            <a:ext cx="10671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不是记住更多，而是把信息打包得更聪明。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记忆三车间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长时记忆：相互连接的知识网络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容量巨大，可以长期保存；有意义的联系更容易成为线索。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2286000" y="2496312"/>
            <a:ext cx="3813048" cy="1271016"/>
          </a:xfrm>
          <a:prstGeom prst="line">
            <a:avLst/>
          </a:prstGeom>
          <a:noFill/>
          <a:ln w="25400">
            <a:solidFill>
              <a:srgbClr val="3975D7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 flipH="1">
            <a:off x="2286000" y="3767328"/>
            <a:ext cx="3813048" cy="1152144"/>
          </a:xfrm>
          <a:prstGeom prst="line">
            <a:avLst/>
          </a:prstGeom>
          <a:noFill/>
          <a:ln w="25400">
            <a:solidFill>
              <a:srgbClr val="7655CE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 flipV="1">
            <a:off x="6099048" y="2414016"/>
            <a:ext cx="0" cy="1353312"/>
          </a:xfrm>
          <a:prstGeom prst="line">
            <a:avLst/>
          </a:prstGeom>
          <a:noFill/>
          <a:ln w="25400">
            <a:solidFill>
              <a:srgbClr val="3975D7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 flipV="1">
            <a:off x="6099048" y="2496312"/>
            <a:ext cx="3803904" cy="1271016"/>
          </a:xfrm>
          <a:prstGeom prst="line">
            <a:avLst/>
          </a:prstGeom>
          <a:noFill/>
          <a:ln w="25400">
            <a:solidFill>
              <a:srgbClr val="7655CE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099048" y="3767328"/>
            <a:ext cx="3803904" cy="1152144"/>
          </a:xfrm>
          <a:prstGeom prst="line">
            <a:avLst/>
          </a:prstGeom>
          <a:noFill/>
          <a:ln w="25400">
            <a:solidFill>
              <a:srgbClr val="3975D7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099048" y="3767328"/>
            <a:ext cx="0" cy="1508760"/>
          </a:xfrm>
          <a:prstGeom prst="line">
            <a:avLst/>
          </a:prstGeom>
          <a:noFill/>
          <a:ln w="25400">
            <a:solidFill>
              <a:srgbClr val="7655CE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4343400" y="2999232"/>
            <a:ext cx="3511296" cy="1618488"/>
          </a:xfrm>
          <a:prstGeom prst="roundRect">
            <a:avLst>
              <a:gd name="adj" fmla="val 9040"/>
            </a:avLst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pic>
        <p:nvPicPr>
          <p:cNvPr id="19" name="Image 0" descr="/workspace/mobile-lab/experiments/006-memory-factory/assets/icons/network-FFFFFF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0" y="3465576"/>
            <a:ext cx="566928" cy="566928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394960" y="3328416"/>
            <a:ext cx="21396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意义编码</a:t>
            </a:r>
            <a:endParaRPr lang="en-US" sz="2700" dirty="0"/>
          </a:p>
        </p:txBody>
      </p:sp>
      <p:sp>
        <p:nvSpPr>
          <p:cNvPr id="21" name="Text 18"/>
          <p:cNvSpPr/>
          <p:nvPr/>
        </p:nvSpPr>
        <p:spPr>
          <a:xfrm>
            <a:off x="4754880" y="4023360"/>
            <a:ext cx="26883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分类 · 联系 · 提取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914400" y="1975104"/>
            <a:ext cx="2743200" cy="905256"/>
          </a:xfrm>
          <a:prstGeom prst="roundRect">
            <a:avLst>
              <a:gd name="adj" fmla="val 1616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3" name="Image 1" descr="/workspace/mobile-lab/experiments/006-memory-factory/assets/icons/book-open-3975D7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8" y="2176272"/>
            <a:ext cx="457200" cy="45720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810512" y="22037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古诗</a:t>
            </a:r>
            <a:endParaRPr lang="en-US" sz="2300" dirty="0"/>
          </a:p>
        </p:txBody>
      </p:sp>
      <p:sp>
        <p:nvSpPr>
          <p:cNvPr id="25" name="Shape 21"/>
          <p:cNvSpPr/>
          <p:nvPr/>
        </p:nvSpPr>
        <p:spPr>
          <a:xfrm>
            <a:off x="914400" y="4398264"/>
            <a:ext cx="2743200" cy="905256"/>
          </a:xfrm>
          <a:prstGeom prst="roundRect">
            <a:avLst>
              <a:gd name="adj" fmla="val 1616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6" name="Image 2" descr="/workspace/mobile-lab/experiments/006-memory-factory/assets/icons/languages-7655CE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568" y="4599432"/>
            <a:ext cx="457200" cy="45720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810512" y="462686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英语</a:t>
            </a:r>
            <a:endParaRPr lang="en-US" sz="2300" dirty="0"/>
          </a:p>
        </p:txBody>
      </p:sp>
      <p:sp>
        <p:nvSpPr>
          <p:cNvPr id="28" name="Shape 23"/>
          <p:cNvSpPr/>
          <p:nvPr/>
        </p:nvSpPr>
        <p:spPr>
          <a:xfrm>
            <a:off x="4727448" y="1892808"/>
            <a:ext cx="2743200" cy="905256"/>
          </a:xfrm>
          <a:prstGeom prst="roundRect">
            <a:avLst>
              <a:gd name="adj" fmla="val 1616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9" name="Image 3" descr="/workspace/mobile-lab/experiments/006-memory-factory/assets/icons/users-3975D7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28616" y="209397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623560" y="21214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</a:t>
            </a:r>
            <a:endParaRPr lang="en-US" sz="2300" dirty="0"/>
          </a:p>
        </p:txBody>
      </p:sp>
      <p:sp>
        <p:nvSpPr>
          <p:cNvPr id="31" name="Shape 25"/>
          <p:cNvSpPr/>
          <p:nvPr/>
        </p:nvSpPr>
        <p:spPr>
          <a:xfrm>
            <a:off x="8531352" y="1975104"/>
            <a:ext cx="2743200" cy="905256"/>
          </a:xfrm>
          <a:prstGeom prst="roundRect">
            <a:avLst>
              <a:gd name="adj" fmla="val 1616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2" name="Image 4" descr="/workspace/mobile-lab/experiments/006-memory-factory/assets/icons/calendar-days-7655CE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32520" y="2176272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427464" y="22037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事件</a:t>
            </a:r>
            <a:endParaRPr lang="en-US" sz="2300" dirty="0"/>
          </a:p>
        </p:txBody>
      </p:sp>
      <p:sp>
        <p:nvSpPr>
          <p:cNvPr id="34" name="Shape 27"/>
          <p:cNvSpPr/>
          <p:nvPr/>
        </p:nvSpPr>
        <p:spPr>
          <a:xfrm>
            <a:off x="8531352" y="4398264"/>
            <a:ext cx="2743200" cy="905256"/>
          </a:xfrm>
          <a:prstGeom prst="roundRect">
            <a:avLst>
              <a:gd name="adj" fmla="val 1616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5" name="Image 5" descr="/workspace/mobile-lab/experiments/006-memory-factory/assets/icons/bike-3975D7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732520" y="4599432"/>
            <a:ext cx="457200" cy="45720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427464" y="462686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技能</a:t>
            </a:r>
            <a:endParaRPr lang="en-US" sz="2300" dirty="0"/>
          </a:p>
        </p:txBody>
      </p:sp>
      <p:sp>
        <p:nvSpPr>
          <p:cNvPr id="37" name="Shape 29"/>
          <p:cNvSpPr/>
          <p:nvPr/>
        </p:nvSpPr>
        <p:spPr>
          <a:xfrm>
            <a:off x="4727448" y="4754880"/>
            <a:ext cx="2743200" cy="905256"/>
          </a:xfrm>
          <a:prstGeom prst="roundRect">
            <a:avLst>
              <a:gd name="adj" fmla="val 1616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8" name="Image 6" descr="/workspace/mobile-lab/experiments/006-memory-factory/assets/icons/image-7655CE.sv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28616" y="4956048"/>
            <a:ext cx="457200" cy="4572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623560" y="4983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生活经历</a:t>
            </a:r>
            <a:endParaRPr lang="en-US" sz="2300" dirty="0"/>
          </a:p>
        </p:txBody>
      </p:sp>
      <p:sp>
        <p:nvSpPr>
          <p:cNvPr id="40" name="Shape 31"/>
          <p:cNvSpPr/>
          <p:nvPr/>
        </p:nvSpPr>
        <p:spPr>
          <a:xfrm>
            <a:off x="822960" y="5925312"/>
            <a:ext cx="2194560" cy="365760"/>
          </a:xfrm>
          <a:prstGeom prst="roundRect">
            <a:avLst>
              <a:gd name="adj" fmla="val 40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96112" y="5925312"/>
            <a:ext cx="204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容量巨大</a:t>
            </a:r>
            <a:endParaRPr lang="en-US" sz="2000" dirty="0"/>
          </a:p>
        </p:txBody>
      </p:sp>
      <p:sp>
        <p:nvSpPr>
          <p:cNvPr id="42" name="Shape 33"/>
          <p:cNvSpPr/>
          <p:nvPr/>
        </p:nvSpPr>
        <p:spPr>
          <a:xfrm>
            <a:off x="4069080" y="5925312"/>
            <a:ext cx="2194560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4142232" y="5925312"/>
            <a:ext cx="204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长期保存</a:t>
            </a:r>
            <a:endParaRPr lang="en-US" sz="2000" dirty="0"/>
          </a:p>
        </p:txBody>
      </p:sp>
      <p:sp>
        <p:nvSpPr>
          <p:cNvPr id="44" name="Shape 35"/>
          <p:cNvSpPr/>
          <p:nvPr/>
        </p:nvSpPr>
        <p:spPr>
          <a:xfrm>
            <a:off x="7315200" y="5925312"/>
            <a:ext cx="4059936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7388352" y="592531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有联系，更好提取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理解遗忘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信息为什么没有留下？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遗忘可能发生在不同环节。先找到“漏点”，再选策略。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" y="2231136"/>
            <a:ext cx="1261872" cy="2706624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2432304"/>
            <a:ext cx="868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外界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信息</a:t>
            </a:r>
            <a:endParaRPr lang="en-US" sz="2300" dirty="0"/>
          </a:p>
        </p:txBody>
      </p:sp>
      <p:pic>
        <p:nvPicPr>
          <p:cNvPr id="14" name="Image 0" descr="/workspace/mobile-lab/experiments/006-memory-factory/assets/icons/eye-3975D7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976" y="3429000"/>
            <a:ext cx="329184" cy="329184"/>
          </a:xfrm>
          <a:prstGeom prst="rect">
            <a:avLst/>
          </a:prstGeom>
        </p:spPr>
      </p:pic>
      <p:pic>
        <p:nvPicPr>
          <p:cNvPr id="15" name="Image 1" descr="/workspace/mobile-lab/experiments/006-memory-factory/assets/icons/ear-3975D7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0976" y="3877056"/>
            <a:ext cx="329184" cy="329184"/>
          </a:xfrm>
          <a:prstGeom prst="rect">
            <a:avLst/>
          </a:prstGeom>
        </p:spPr>
      </p:pic>
      <p:pic>
        <p:nvPicPr>
          <p:cNvPr id="16" name="Image 2" descr="/workspace/mobile-lab/experiments/006-memory-factory/assets/icons/hand-3975D7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0976" y="4325112"/>
            <a:ext cx="329184" cy="32918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874520" y="3566160"/>
            <a:ext cx="411480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2331720" y="2231136"/>
            <a:ext cx="2606040" cy="2706624"/>
          </a:xfrm>
          <a:prstGeom prst="roundRect">
            <a:avLst>
              <a:gd name="adj" fmla="val 5614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2496312" y="2432304"/>
            <a:ext cx="512064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2569464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3127248" y="244144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感觉记忆</a:t>
            </a:r>
            <a:endParaRPr lang="en-US" sz="2400" dirty="0"/>
          </a:p>
        </p:txBody>
      </p:sp>
      <p:pic>
        <p:nvPicPr>
          <p:cNvPr id="22" name="Image 3" descr="/workspace/mobile-lab/experiments/006-memory-factory/assets/icons/scan-eye-3975D7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64408" y="30632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468880" y="397764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0.25–2 秒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2478024" y="44897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瞬间快照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3630168" y="4956048"/>
            <a:ext cx="0" cy="420624"/>
          </a:xfrm>
          <a:prstGeom prst="line">
            <a:avLst/>
          </a:prstGeom>
          <a:noFill/>
          <a:ln w="25400">
            <a:solidFill>
              <a:srgbClr val="F39A45"/>
            </a:solidFill>
            <a:prstDash val="solid"/>
            <a:headEnd type="none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2404872" y="5449824"/>
            <a:ext cx="2459736" cy="365760"/>
          </a:xfrm>
          <a:prstGeom prst="roundRect">
            <a:avLst>
              <a:gd name="adj" fmla="val 40000"/>
            </a:avLst>
          </a:prstGeom>
          <a:solidFill>
            <a:srgbClr val="FFF2E5"/>
          </a:solidFill>
          <a:ln w="12700">
            <a:solidFill>
              <a:srgbClr val="FFF2E5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478024" y="5449824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没注意 → 遗忘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965192" y="3566160"/>
            <a:ext cx="475488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5486400" y="2231136"/>
            <a:ext cx="2606040" cy="2706624"/>
          </a:xfrm>
          <a:prstGeom prst="roundRect">
            <a:avLst>
              <a:gd name="adj" fmla="val 5614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650992" y="2432304"/>
            <a:ext cx="512064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724144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600" dirty="0"/>
          </a:p>
        </p:txBody>
      </p:sp>
      <p:sp>
        <p:nvSpPr>
          <p:cNvPr id="32" name="Text 26"/>
          <p:cNvSpPr/>
          <p:nvPr/>
        </p:nvSpPr>
        <p:spPr>
          <a:xfrm>
            <a:off x="6281928" y="244144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短时记忆</a:t>
            </a:r>
            <a:endParaRPr lang="en-US" sz="2400" dirty="0"/>
          </a:p>
        </p:txBody>
      </p:sp>
      <p:pic>
        <p:nvPicPr>
          <p:cNvPr id="33" name="Image 4" descr="/workspace/mobile-lab/experiments/006-memory-factory/assets/icons/panels-top-left-7655CE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19088" y="3063240"/>
            <a:ext cx="731520" cy="73152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623560" y="397764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1秒–1分钟</a:t>
            </a:r>
            <a:endParaRPr lang="en-US" sz="2400" dirty="0"/>
          </a:p>
        </p:txBody>
      </p:sp>
      <p:sp>
        <p:nvSpPr>
          <p:cNvPr id="35" name="Text 28"/>
          <p:cNvSpPr/>
          <p:nvPr/>
        </p:nvSpPr>
        <p:spPr>
          <a:xfrm>
            <a:off x="5632704" y="44897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7±2 组块*</a:t>
            </a:r>
            <a:endParaRPr lang="en-US" sz="1700" dirty="0"/>
          </a:p>
        </p:txBody>
      </p:sp>
      <p:sp>
        <p:nvSpPr>
          <p:cNvPr id="36" name="Shape 29"/>
          <p:cNvSpPr/>
          <p:nvPr/>
        </p:nvSpPr>
        <p:spPr>
          <a:xfrm>
            <a:off x="6784848" y="4956048"/>
            <a:ext cx="0" cy="420624"/>
          </a:xfrm>
          <a:prstGeom prst="line">
            <a:avLst/>
          </a:prstGeom>
          <a:noFill/>
          <a:ln w="25400">
            <a:solidFill>
              <a:srgbClr val="F39A45"/>
            </a:solidFill>
            <a:prstDash val="solid"/>
            <a:headEnd type="none"/>
            <a:tailEnd type="triangle"/>
          </a:ln>
        </p:spPr>
      </p:sp>
      <p:sp>
        <p:nvSpPr>
          <p:cNvPr id="37" name="Shape 30"/>
          <p:cNvSpPr/>
          <p:nvPr/>
        </p:nvSpPr>
        <p:spPr>
          <a:xfrm>
            <a:off x="5559552" y="5449824"/>
            <a:ext cx="2459736" cy="365760"/>
          </a:xfrm>
          <a:prstGeom prst="roundRect">
            <a:avLst>
              <a:gd name="adj" fmla="val 40000"/>
            </a:avLst>
          </a:prstGeom>
          <a:solidFill>
            <a:srgbClr val="FFF2E5"/>
          </a:solidFill>
          <a:ln w="12700">
            <a:solidFill>
              <a:srgbClr val="FFF2E5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5632704" y="5449824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没加工 → 遗忘</a:t>
            </a:r>
            <a:endParaRPr lang="en-US" sz="1800" dirty="0"/>
          </a:p>
        </p:txBody>
      </p:sp>
      <p:sp>
        <p:nvSpPr>
          <p:cNvPr id="39" name="Shape 32"/>
          <p:cNvSpPr/>
          <p:nvPr/>
        </p:nvSpPr>
        <p:spPr>
          <a:xfrm>
            <a:off x="8119872" y="3566160"/>
            <a:ext cx="475488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40" name="Shape 33"/>
          <p:cNvSpPr/>
          <p:nvPr/>
        </p:nvSpPr>
        <p:spPr>
          <a:xfrm>
            <a:off x="8641080" y="2231136"/>
            <a:ext cx="2606040" cy="2706624"/>
          </a:xfrm>
          <a:prstGeom prst="roundRect">
            <a:avLst>
              <a:gd name="adj" fmla="val 5614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805672" y="2432304"/>
            <a:ext cx="512064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8878824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600" dirty="0"/>
          </a:p>
        </p:txBody>
      </p:sp>
      <p:sp>
        <p:nvSpPr>
          <p:cNvPr id="43" name="Text 36"/>
          <p:cNvSpPr/>
          <p:nvPr/>
        </p:nvSpPr>
        <p:spPr>
          <a:xfrm>
            <a:off x="9436608" y="244144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长时记忆</a:t>
            </a:r>
            <a:endParaRPr lang="en-US" sz="2400" dirty="0"/>
          </a:p>
        </p:txBody>
      </p:sp>
      <p:pic>
        <p:nvPicPr>
          <p:cNvPr id="44" name="Image 5" descr="/workspace/mobile-lab/experiments/006-memory-factory/assets/icons/folder-open-36369B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73768" y="3063240"/>
            <a:ext cx="731520" cy="731520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8778240" y="397764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长期保存</a:t>
            </a:r>
            <a:endParaRPr lang="en-US" sz="2400" dirty="0"/>
          </a:p>
        </p:txBody>
      </p:sp>
      <p:sp>
        <p:nvSpPr>
          <p:cNvPr id="46" name="Text 38"/>
          <p:cNvSpPr/>
          <p:nvPr/>
        </p:nvSpPr>
        <p:spPr>
          <a:xfrm>
            <a:off x="8787384" y="44897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容量巨大</a:t>
            </a:r>
            <a:endParaRPr lang="en-US" sz="1700" dirty="0"/>
          </a:p>
        </p:txBody>
      </p:sp>
      <p:sp>
        <p:nvSpPr>
          <p:cNvPr id="47" name="Shape 39"/>
          <p:cNvSpPr/>
          <p:nvPr/>
        </p:nvSpPr>
        <p:spPr>
          <a:xfrm>
            <a:off x="9939528" y="4956048"/>
            <a:ext cx="0" cy="420624"/>
          </a:xfrm>
          <a:prstGeom prst="line">
            <a:avLst/>
          </a:prstGeom>
          <a:noFill/>
          <a:ln w="25400">
            <a:solidFill>
              <a:srgbClr val="F39A45"/>
            </a:solidFill>
            <a:prstDash val="solid"/>
            <a:headEnd type="none"/>
            <a:tailEnd type="triangle"/>
          </a:ln>
        </p:spPr>
      </p:sp>
      <p:sp>
        <p:nvSpPr>
          <p:cNvPr id="48" name="Shape 40"/>
          <p:cNvSpPr/>
          <p:nvPr/>
        </p:nvSpPr>
        <p:spPr>
          <a:xfrm>
            <a:off x="8714232" y="5449824"/>
            <a:ext cx="2459736" cy="365760"/>
          </a:xfrm>
          <a:prstGeom prst="roundRect">
            <a:avLst>
              <a:gd name="adj" fmla="val 40000"/>
            </a:avLst>
          </a:prstGeom>
          <a:solidFill>
            <a:srgbClr val="FFF2E5"/>
          </a:solidFill>
          <a:ln w="12700">
            <a:solidFill>
              <a:srgbClr val="FFF2E5"/>
            </a:solidFill>
            <a:prstDash val="solid"/>
          </a:ln>
        </p:spPr>
      </p:sp>
      <p:sp>
        <p:nvSpPr>
          <p:cNvPr id="49" name="Text 41"/>
          <p:cNvSpPr/>
          <p:nvPr/>
        </p:nvSpPr>
        <p:spPr>
          <a:xfrm>
            <a:off x="8787384" y="5449824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没复习 → 模糊</a:t>
            </a:r>
            <a:endParaRPr lang="en-US" sz="1800" dirty="0"/>
          </a:p>
        </p:txBody>
      </p:sp>
      <p:sp>
        <p:nvSpPr>
          <p:cNvPr id="50" name="Shape 42"/>
          <p:cNvSpPr/>
          <p:nvPr/>
        </p:nvSpPr>
        <p:spPr>
          <a:xfrm>
            <a:off x="4517136" y="1792224"/>
            <a:ext cx="1143000" cy="365760"/>
          </a:xfrm>
          <a:prstGeom prst="roundRect">
            <a:avLst>
              <a:gd name="adj" fmla="val 40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51" name="Text 43"/>
          <p:cNvSpPr/>
          <p:nvPr/>
        </p:nvSpPr>
        <p:spPr>
          <a:xfrm>
            <a:off x="4590288" y="1792224"/>
            <a:ext cx="996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注意</a:t>
            </a:r>
            <a:endParaRPr lang="en-US" sz="1800" dirty="0"/>
          </a:p>
        </p:txBody>
      </p:sp>
      <p:sp>
        <p:nvSpPr>
          <p:cNvPr id="52" name="Shape 44"/>
          <p:cNvSpPr/>
          <p:nvPr/>
        </p:nvSpPr>
        <p:spPr>
          <a:xfrm>
            <a:off x="6885432" y="1792224"/>
            <a:ext cx="3108960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45"/>
          <p:cNvSpPr/>
          <p:nvPr/>
        </p:nvSpPr>
        <p:spPr>
          <a:xfrm>
            <a:off x="6958584" y="179222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复述 / 理解 / 加工</a:t>
            </a:r>
            <a:endParaRPr lang="en-US" sz="1700" dirty="0"/>
          </a:p>
        </p:txBody>
      </p:sp>
      <p:sp>
        <p:nvSpPr>
          <p:cNvPr id="54" name="Text 46"/>
          <p:cNvSpPr/>
          <p:nvPr/>
        </p:nvSpPr>
        <p:spPr>
          <a:xfrm>
            <a:off x="749808" y="60807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找漏点：刚刚没听进去？当时没弄懂？学过后很少再提取？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记忆升级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艾宾浩斯遗忘曲线：先快后慢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把复习安排在“快要忘”的路上。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graphicFrame>
        <p:nvGraphicFramePr>
          <p:cNvPr id="12" name="Chart 0" descr="遗忘先快后慢；在当天、第2天、第7天复习后保持程度重新升高。教学示意，横轴不按实际时间比例。"/>
          <p:cNvGraphicFramePr/>
          <p:nvPr/>
        </p:nvGraphicFramePr>
        <p:xfrm>
          <a:off x="658368" y="2432304"/>
          <a:ext cx="7534656" cy="30815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777240" y="1911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记忆保持（示意）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794760" y="2075688"/>
            <a:ext cx="365760" cy="0"/>
          </a:xfrm>
          <a:prstGeom prst="line">
            <a:avLst/>
          </a:prstGeom>
          <a:noFill/>
          <a:ln w="38100">
            <a:solidFill>
              <a:srgbClr val="62647B"/>
            </a:solidFill>
            <a:prstDash val="solid"/>
            <a:headEnd type="none"/>
            <a:tailEnd type="none"/>
          </a:ln>
        </p:spPr>
      </p:sp>
      <p:sp>
        <p:nvSpPr>
          <p:cNvPr id="15" name="Text 12"/>
          <p:cNvSpPr/>
          <p:nvPr/>
        </p:nvSpPr>
        <p:spPr>
          <a:xfrm>
            <a:off x="4279392" y="19019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未复习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760720" y="2075688"/>
            <a:ext cx="365760" cy="0"/>
          </a:xfrm>
          <a:prstGeom prst="line">
            <a:avLst/>
          </a:prstGeom>
          <a:noFill/>
          <a:ln w="38100">
            <a:solidFill>
              <a:srgbClr val="3975D7"/>
            </a:solidFill>
            <a:prstDash val="solid"/>
            <a:headEnd type="none"/>
            <a:tailEnd type="none"/>
          </a:ln>
        </p:spPr>
      </p:sp>
      <p:sp>
        <p:nvSpPr>
          <p:cNvPr id="17" name="Text 14"/>
          <p:cNvSpPr/>
          <p:nvPr/>
        </p:nvSpPr>
        <p:spPr>
          <a:xfrm>
            <a:off x="6245352" y="190195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间隔复习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42416" y="55321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学后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2103120" y="55321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当天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721608" y="55321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第2天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181344" y="55321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第7天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461504" y="55321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77240" y="2221992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教学示意 · 时间轴非等比例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458200" y="1975104"/>
            <a:ext cx="3063240" cy="3803904"/>
          </a:xfrm>
          <a:prstGeom prst="roundRect">
            <a:avLst>
              <a:gd name="adj" fmla="val 4776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pic>
        <p:nvPicPr>
          <p:cNvPr id="25" name="Image 0" descr="/workspace/mobile-lab/experiments/006-memory-factory/assets/icons/rotate-ccw-36369B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41664" y="2231136"/>
            <a:ext cx="512064" cy="51206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741664" y="2907792"/>
            <a:ext cx="24871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复习，让曲线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重新抬高</a:t>
            </a:r>
            <a:endParaRPr lang="en-US" sz="2500" dirty="0"/>
          </a:p>
        </p:txBody>
      </p:sp>
      <p:sp>
        <p:nvSpPr>
          <p:cNvPr id="27" name="Shape 23"/>
          <p:cNvSpPr/>
          <p:nvPr/>
        </p:nvSpPr>
        <p:spPr>
          <a:xfrm>
            <a:off x="8750808" y="4096512"/>
            <a:ext cx="2468880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823960" y="4096512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当天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8750808" y="4535424"/>
            <a:ext cx="2468880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823960" y="4535424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第2天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8750808" y="4974336"/>
            <a:ext cx="2468880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8823960" y="4974336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第7天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30352" y="5934456"/>
            <a:ext cx="11128248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58952" y="5971032"/>
            <a:ext cx="10671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不要等忘光了，再从头学一次。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记忆升级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主动输出：试着把它讲明白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费曼学习法 · 用简单的话解释，再回到卡住的地方。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40480" y="2560320"/>
            <a:ext cx="649224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626096" y="2560320"/>
            <a:ext cx="649224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57232" y="3090672"/>
            <a:ext cx="0" cy="73152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7644384" y="4389120"/>
            <a:ext cx="640080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3867912" y="4389120"/>
            <a:ext cx="630936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2286000" y="3108960"/>
            <a:ext cx="0" cy="713232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68096" y="2057400"/>
            <a:ext cx="3035808" cy="100584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19" name="Image 0" descr="/workspace/mobile-lab/experiments/006-memory-factory/assets/icons/book-open-36369B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976" y="2313432"/>
            <a:ext cx="466344" cy="46634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645920" y="2313432"/>
            <a:ext cx="19568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学习</a:t>
            </a:r>
            <a:endParaRPr lang="en-US" sz="2300" dirty="0"/>
          </a:p>
        </p:txBody>
      </p:sp>
      <p:sp>
        <p:nvSpPr>
          <p:cNvPr id="21" name="Shape 18"/>
          <p:cNvSpPr/>
          <p:nvPr/>
        </p:nvSpPr>
        <p:spPr>
          <a:xfrm>
            <a:off x="4553712" y="2057400"/>
            <a:ext cx="3035808" cy="100584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2" name="Image 1" descr="/workspace/mobile-lab/experiments/006-memory-factory/assets/icons/book-x-36369B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36592" y="2313432"/>
            <a:ext cx="466344" cy="46634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31536" y="2313432"/>
            <a:ext cx="19568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合上书</a:t>
            </a:r>
            <a:endParaRPr lang="en-US" sz="2300" dirty="0"/>
          </a:p>
        </p:txBody>
      </p:sp>
      <p:sp>
        <p:nvSpPr>
          <p:cNvPr id="24" name="Shape 20"/>
          <p:cNvSpPr/>
          <p:nvPr/>
        </p:nvSpPr>
        <p:spPr>
          <a:xfrm>
            <a:off x="8339328" y="2057400"/>
            <a:ext cx="3035808" cy="100584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5" name="Image 2" descr="/workspace/mobile-lab/experiments/006-memory-factory/assets/icons/message-circle-36369B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22208" y="2313432"/>
            <a:ext cx="466344" cy="46634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217152" y="2313432"/>
            <a:ext cx="19568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讲出来</a:t>
            </a:r>
            <a:endParaRPr lang="en-US" sz="2300" dirty="0"/>
          </a:p>
        </p:txBody>
      </p:sp>
      <p:sp>
        <p:nvSpPr>
          <p:cNvPr id="27" name="Shape 22"/>
          <p:cNvSpPr/>
          <p:nvPr/>
        </p:nvSpPr>
        <p:spPr>
          <a:xfrm>
            <a:off x="8339328" y="3886200"/>
            <a:ext cx="3035808" cy="1005840"/>
          </a:xfrm>
          <a:prstGeom prst="roundRect">
            <a:avLst>
              <a:gd name="adj" fmla="val 14545"/>
            </a:avLst>
          </a:prstGeom>
          <a:solidFill>
            <a:srgbClr val="FFF2E5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8" name="Image 3" descr="/workspace/mobile-lab/experiments/006-memory-factory/assets/icons/circle-help-F39A45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22208" y="4142232"/>
            <a:ext cx="466344" cy="4663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217152" y="4142232"/>
            <a:ext cx="19568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发现卡住</a:t>
            </a:r>
            <a:endParaRPr lang="en-US" sz="2300" dirty="0"/>
          </a:p>
        </p:txBody>
      </p:sp>
      <p:sp>
        <p:nvSpPr>
          <p:cNvPr id="30" name="Shape 24"/>
          <p:cNvSpPr/>
          <p:nvPr/>
        </p:nvSpPr>
        <p:spPr>
          <a:xfrm>
            <a:off x="4553712" y="3886200"/>
            <a:ext cx="3035808" cy="100584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1" name="Image 4" descr="/workspace/mobile-lab/experiments/006-memory-factory/assets/icons/search-36369B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36592" y="4142232"/>
            <a:ext cx="466344" cy="46634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431536" y="4142232"/>
            <a:ext cx="19568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回去检查</a:t>
            </a:r>
            <a:endParaRPr lang="en-US" sz="2300" dirty="0"/>
          </a:p>
        </p:txBody>
      </p:sp>
      <p:sp>
        <p:nvSpPr>
          <p:cNvPr id="33" name="Shape 26"/>
          <p:cNvSpPr/>
          <p:nvPr/>
        </p:nvSpPr>
        <p:spPr>
          <a:xfrm>
            <a:off x="768096" y="3886200"/>
            <a:ext cx="3035808" cy="100584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4" name="Image 5" descr="/workspace/mobile-lab/experiments/006-memory-factory/assets/icons/refresh-cw-36369B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0976" y="4142232"/>
            <a:ext cx="466344" cy="46634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1645920" y="4142232"/>
            <a:ext cx="19568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再次表达</a:t>
            </a:r>
            <a:endParaRPr lang="en-US" sz="2300" dirty="0"/>
          </a:p>
        </p:txBody>
      </p:sp>
      <p:sp>
        <p:nvSpPr>
          <p:cNvPr id="36" name="Text 28"/>
          <p:cNvSpPr/>
          <p:nvPr/>
        </p:nvSpPr>
        <p:spPr>
          <a:xfrm>
            <a:off x="2286000" y="33284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能讲明白，才是真的会。</a:t>
            </a:r>
            <a:endParaRPr lang="en-US" sz="2600" dirty="0"/>
          </a:p>
        </p:txBody>
      </p:sp>
      <p:sp>
        <p:nvSpPr>
          <p:cNvPr id="37" name="Shape 29"/>
          <p:cNvSpPr/>
          <p:nvPr/>
        </p:nvSpPr>
        <p:spPr>
          <a:xfrm>
            <a:off x="768096" y="5431536"/>
            <a:ext cx="3035808" cy="667512"/>
          </a:xfrm>
          <a:prstGeom prst="roundRect">
            <a:avLst>
              <a:gd name="adj" fmla="val 21918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932688" y="5568696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英语</a:t>
            </a:r>
            <a:endParaRPr lang="en-US" sz="1800" dirty="0"/>
          </a:p>
        </p:txBody>
      </p:sp>
      <p:sp>
        <p:nvSpPr>
          <p:cNvPr id="39" name="Text 31"/>
          <p:cNvSpPr/>
          <p:nvPr/>
        </p:nvSpPr>
        <p:spPr>
          <a:xfrm>
            <a:off x="1682496" y="55686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用新词造句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4553712" y="5431536"/>
            <a:ext cx="3035808" cy="667512"/>
          </a:xfrm>
          <a:prstGeom prst="roundRect">
            <a:avLst>
              <a:gd name="adj" fmla="val 21918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4718304" y="5568696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历史</a:t>
            </a:r>
            <a:endParaRPr lang="en-US" sz="1800" dirty="0"/>
          </a:p>
        </p:txBody>
      </p:sp>
      <p:sp>
        <p:nvSpPr>
          <p:cNvPr id="42" name="Text 34"/>
          <p:cNvSpPr/>
          <p:nvPr/>
        </p:nvSpPr>
        <p:spPr>
          <a:xfrm>
            <a:off x="5468112" y="55686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讲清因果</a:t>
            </a:r>
            <a:endParaRPr lang="en-US" sz="1800" dirty="0"/>
          </a:p>
        </p:txBody>
      </p:sp>
      <p:sp>
        <p:nvSpPr>
          <p:cNvPr id="43" name="Shape 35"/>
          <p:cNvSpPr/>
          <p:nvPr/>
        </p:nvSpPr>
        <p:spPr>
          <a:xfrm>
            <a:off x="8339328" y="5431536"/>
            <a:ext cx="3035808" cy="667512"/>
          </a:xfrm>
          <a:prstGeom prst="roundRect">
            <a:avLst>
              <a:gd name="adj" fmla="val 21918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4" name="Text 36"/>
          <p:cNvSpPr/>
          <p:nvPr/>
        </p:nvSpPr>
        <p:spPr>
          <a:xfrm>
            <a:off x="8503920" y="5568696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数学</a:t>
            </a:r>
            <a:endParaRPr lang="en-US" sz="1800" dirty="0"/>
          </a:p>
        </p:txBody>
      </p:sp>
      <p:sp>
        <p:nvSpPr>
          <p:cNvPr id="45" name="Text 37"/>
          <p:cNvSpPr/>
          <p:nvPr/>
        </p:nvSpPr>
        <p:spPr>
          <a:xfrm>
            <a:off x="9253728" y="5568696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解释每一步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记忆升级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情绪，让某些记忆更鲜明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惊喜、快乐、适度紧张和成就感，都可能成为记忆线索。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975104"/>
            <a:ext cx="4983480" cy="2176272"/>
          </a:xfrm>
          <a:prstGeom prst="roundRect">
            <a:avLst>
              <a:gd name="adj" fmla="val 6723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53328" y="1975104"/>
            <a:ext cx="5468112" cy="2176272"/>
          </a:xfrm>
          <a:prstGeom prst="roundRect">
            <a:avLst>
              <a:gd name="adj" fmla="val 6723"/>
            </a:avLst>
          </a:prstGeom>
          <a:solidFill>
            <a:srgbClr val="FFF2E5"/>
          </a:solidFill>
          <a:ln w="12700">
            <a:solidFill>
              <a:srgbClr val="FFF2E5"/>
            </a:solidFill>
            <a:prstDash val="solid"/>
          </a:ln>
        </p:spPr>
      </p:sp>
      <p:pic>
        <p:nvPicPr>
          <p:cNvPr id="14" name="Image 0" descr="/workspace/mobile-lab/experiments/006-memory-factory/assets/icons/calendar-62647B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322576"/>
            <a:ext cx="548640" cy="54864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746504" y="2295144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普通的一天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1024128" y="3383280"/>
            <a:ext cx="4187952" cy="0"/>
          </a:xfrm>
          <a:prstGeom prst="line">
            <a:avLst/>
          </a:prstGeom>
          <a:noFill/>
          <a:ln w="38100">
            <a:solidFill>
              <a:srgbClr val="BCBDCC"/>
            </a:solidFill>
            <a:prstDash val="solid"/>
            <a:headEnd type="non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938528" y="3310128"/>
            <a:ext cx="146304" cy="146304"/>
          </a:xfrm>
          <a:prstGeom prst="ellipse">
            <a:avLst/>
          </a:prstGeom>
          <a:solidFill>
            <a:srgbClr val="BCBDCC"/>
          </a:solidFill>
          <a:ln w="12700">
            <a:solidFill>
              <a:srgbClr val="BCBDC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41648" y="3310128"/>
            <a:ext cx="146304" cy="146304"/>
          </a:xfrm>
          <a:prstGeom prst="ellipse">
            <a:avLst/>
          </a:prstGeom>
          <a:solidFill>
            <a:srgbClr val="BCBDCC"/>
          </a:solidFill>
          <a:ln w="12700">
            <a:solidFill>
              <a:srgbClr val="BCBDCC"/>
            </a:solidFill>
            <a:prstDash val="solid"/>
          </a:ln>
        </p:spPr>
      </p:sp>
      <p:pic>
        <p:nvPicPr>
          <p:cNvPr id="19" name="Image 1" descr="/workspace/mobile-lab/experiments/006-memory-factory/assets/icons/award-F39A45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27648" y="2322576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168896" y="2295144"/>
            <a:ext cx="3950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第一次被全班鼓掌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455664" y="3383280"/>
            <a:ext cx="4636008" cy="0"/>
          </a:xfrm>
          <a:prstGeom prst="line">
            <a:avLst/>
          </a:prstGeom>
          <a:noFill/>
          <a:ln w="76200">
            <a:solidFill>
              <a:srgbClr val="F39A45"/>
            </a:solidFill>
            <a:prstDash val="solid"/>
            <a:headEnd type="none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6739128" y="3264408"/>
            <a:ext cx="237744" cy="237744"/>
          </a:xfrm>
          <a:prstGeom prst="ellipse">
            <a:avLst/>
          </a:prstGeom>
          <a:solidFill>
            <a:srgbClr val="F39A45"/>
          </a:solidFill>
          <a:ln w="12700">
            <a:solidFill>
              <a:srgbClr val="F39A45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293608" y="3264408"/>
            <a:ext cx="237744" cy="237744"/>
          </a:xfrm>
          <a:prstGeom prst="ellipse">
            <a:avLst/>
          </a:prstGeom>
          <a:solidFill>
            <a:srgbClr val="F39A45"/>
          </a:solidFill>
          <a:ln w="12700">
            <a:solidFill>
              <a:srgbClr val="F39A4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259568" y="3264408"/>
            <a:ext cx="237744" cy="237744"/>
          </a:xfrm>
          <a:prstGeom prst="ellipse">
            <a:avLst/>
          </a:prstGeom>
          <a:solidFill>
            <a:srgbClr val="F39A45"/>
          </a:solidFill>
          <a:ln w="12700">
            <a:solidFill>
              <a:srgbClr val="F39A45"/>
            </a:solidFill>
            <a:prstDash val="solid"/>
          </a:ln>
        </p:spPr>
      </p:sp>
      <p:pic>
        <p:nvPicPr>
          <p:cNvPr id="25" name="Image 2" descr="/workspace/mobile-lab/experiments/006-memory-factory/assets/illustrations/brain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" y="4370832"/>
            <a:ext cx="2276856" cy="1709928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2048256" y="5294376"/>
            <a:ext cx="237744" cy="237744"/>
          </a:xfrm>
          <a:prstGeom prst="ellipse">
            <a:avLst/>
          </a:prstGeom>
          <a:solidFill>
            <a:srgbClr val="F39A45"/>
          </a:solidFill>
          <a:ln w="12700">
            <a:solidFill>
              <a:srgbClr val="F39A45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 flipV="1">
            <a:off x="2322576" y="5074920"/>
            <a:ext cx="1042416" cy="338328"/>
          </a:xfrm>
          <a:prstGeom prst="line">
            <a:avLst/>
          </a:prstGeom>
          <a:noFill/>
          <a:ln w="22860">
            <a:solidFill>
              <a:srgbClr val="F39A45"/>
            </a:solidFill>
            <a:prstDash val="solid"/>
            <a:headEnd type="none"/>
            <a:tailEnd type="triangle"/>
          </a:ln>
        </p:spPr>
      </p:sp>
      <p:sp>
        <p:nvSpPr>
          <p:cNvPr id="28" name="Text 23"/>
          <p:cNvSpPr/>
          <p:nvPr/>
        </p:nvSpPr>
        <p:spPr>
          <a:xfrm>
            <a:off x="3493008" y="466344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杏仁核</a:t>
            </a:r>
            <a:endParaRPr lang="en-US" sz="2200" dirty="0"/>
          </a:p>
        </p:txBody>
      </p:sp>
      <p:sp>
        <p:nvSpPr>
          <p:cNvPr id="29" name="Text 24"/>
          <p:cNvSpPr/>
          <p:nvPr/>
        </p:nvSpPr>
        <p:spPr>
          <a:xfrm>
            <a:off x="3493008" y="5212080"/>
            <a:ext cx="2560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与情绪加工有关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位置为简化示意</a:t>
            </a:r>
            <a:endParaRPr lang="en-US" sz="1700" dirty="0"/>
          </a:p>
        </p:txBody>
      </p:sp>
      <p:sp>
        <p:nvSpPr>
          <p:cNvPr id="30" name="Shape 25"/>
          <p:cNvSpPr/>
          <p:nvPr/>
        </p:nvSpPr>
        <p:spPr>
          <a:xfrm>
            <a:off x="6382512" y="4544568"/>
            <a:ext cx="1115568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455664" y="4544568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惊喜</a:t>
            </a:r>
            <a:endParaRPr lang="en-US" sz="1800" dirty="0"/>
          </a:p>
        </p:txBody>
      </p:sp>
      <p:sp>
        <p:nvSpPr>
          <p:cNvPr id="32" name="Shape 27"/>
          <p:cNvSpPr/>
          <p:nvPr/>
        </p:nvSpPr>
        <p:spPr>
          <a:xfrm>
            <a:off x="7635240" y="4544568"/>
            <a:ext cx="1115568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7708392" y="4544568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快乐</a:t>
            </a:r>
            <a:endParaRPr lang="en-US" sz="1800" dirty="0"/>
          </a:p>
        </p:txBody>
      </p:sp>
      <p:sp>
        <p:nvSpPr>
          <p:cNvPr id="34" name="Shape 29"/>
          <p:cNvSpPr/>
          <p:nvPr/>
        </p:nvSpPr>
        <p:spPr>
          <a:xfrm>
            <a:off x="8887968" y="4544568"/>
            <a:ext cx="1115568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8961120" y="4544568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成就感</a:t>
            </a:r>
            <a:endParaRPr lang="en-US" sz="1800" dirty="0"/>
          </a:p>
        </p:txBody>
      </p:sp>
      <p:sp>
        <p:nvSpPr>
          <p:cNvPr id="36" name="Text 31"/>
          <p:cNvSpPr/>
          <p:nvPr/>
        </p:nvSpPr>
        <p:spPr>
          <a:xfrm>
            <a:off x="6382512" y="514807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更鲜明 ≠ 更准确</a:t>
            </a:r>
            <a:endParaRPr lang="en-US" sz="2800" dirty="0"/>
          </a:p>
        </p:txBody>
      </p:sp>
      <p:sp>
        <p:nvSpPr>
          <p:cNvPr id="37" name="Text 32"/>
          <p:cNvSpPr/>
          <p:nvPr/>
        </p:nvSpPr>
        <p:spPr>
          <a:xfrm>
            <a:off x="6382512" y="5742432"/>
            <a:ext cx="4846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压力过大，反而可能妨碍回忆。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记忆升级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好奇心：给阅读一个寻找的方向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同样打开书，不同的起点，会带来不同的加工。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17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7512" y="2148840"/>
            <a:ext cx="1901952" cy="365760"/>
          </a:xfrm>
          <a:prstGeom prst="roundRect">
            <a:avLst>
              <a:gd name="adj" fmla="val 40000"/>
            </a:avLst>
          </a:prstGeom>
          <a:solidFill>
            <a:srgbClr val="EEEEF3"/>
          </a:solidFill>
          <a:ln w="12700">
            <a:solidFill>
              <a:srgbClr val="EEEE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0664" y="214884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没有问题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907792" y="2130552"/>
            <a:ext cx="1892808" cy="1234440"/>
          </a:xfrm>
          <a:prstGeom prst="roundRect">
            <a:avLst>
              <a:gd name="adj" fmla="val 1185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15" name="Image 0" descr="/workspace/mobile-lab/experiments/006-memory-factory/assets/icons/book-open-62647B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30168" y="2304288"/>
            <a:ext cx="438912" cy="43891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2999232" y="2935224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打开书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4809744" y="2734056"/>
            <a:ext cx="246888" cy="0"/>
          </a:xfrm>
          <a:prstGeom prst="line">
            <a:avLst/>
          </a:prstGeom>
          <a:noFill/>
          <a:ln w="21590">
            <a:solidFill>
              <a:srgbClr val="62647B"/>
            </a:solidFill>
            <a:prstDash val="solid"/>
            <a:headEnd type="none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102352" y="2130552"/>
            <a:ext cx="1892808" cy="1234440"/>
          </a:xfrm>
          <a:prstGeom prst="roundRect">
            <a:avLst>
              <a:gd name="adj" fmla="val 1185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19" name="Image 1" descr="/workspace/mobile-lab/experiments/006-memory-factory/assets/icons/eye-62647B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24728" y="2304288"/>
            <a:ext cx="438912" cy="43891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193792" y="2935224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看一遍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7004304" y="2734056"/>
            <a:ext cx="246888" cy="0"/>
          </a:xfrm>
          <a:prstGeom prst="line">
            <a:avLst/>
          </a:prstGeom>
          <a:noFill/>
          <a:ln w="21590">
            <a:solidFill>
              <a:srgbClr val="62647B"/>
            </a:solidFill>
            <a:prstDash val="solid"/>
            <a:headEnd type="none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7296912" y="2130552"/>
            <a:ext cx="1892808" cy="1234440"/>
          </a:xfrm>
          <a:prstGeom prst="roundRect">
            <a:avLst>
              <a:gd name="adj" fmla="val 1185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3" name="Image 2" descr="/workspace/mobile-lab/experiments/006-memory-factory/assets/icons/eye-62647B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19288" y="2304288"/>
            <a:ext cx="438912" cy="43891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388352" y="2935224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再看一遍</a:t>
            </a:r>
            <a:endParaRPr lang="en-US" sz="1900" dirty="0"/>
          </a:p>
        </p:txBody>
      </p:sp>
      <p:sp>
        <p:nvSpPr>
          <p:cNvPr id="25" name="Shape 20"/>
          <p:cNvSpPr/>
          <p:nvPr/>
        </p:nvSpPr>
        <p:spPr>
          <a:xfrm>
            <a:off x="9198864" y="2734056"/>
            <a:ext cx="246888" cy="0"/>
          </a:xfrm>
          <a:prstGeom prst="line">
            <a:avLst/>
          </a:prstGeom>
          <a:noFill/>
          <a:ln w="21590">
            <a:solidFill>
              <a:srgbClr val="62647B"/>
            </a:solidFill>
            <a:prstDash val="solid"/>
            <a:headEnd type="none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9491472" y="2130552"/>
            <a:ext cx="1892808" cy="1234440"/>
          </a:xfrm>
          <a:prstGeom prst="roundRect">
            <a:avLst>
              <a:gd name="adj" fmla="val 1185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7" name="Image 3" descr="/workspace/mobile-lab/experiments/006-memory-factory/assets/icons/cloud-off-62647B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13848" y="2304288"/>
            <a:ext cx="438912" cy="43891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582912" y="2935224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很快忘记</a:t>
            </a:r>
            <a:endParaRPr lang="en-US" sz="1900" dirty="0"/>
          </a:p>
        </p:txBody>
      </p:sp>
      <p:sp>
        <p:nvSpPr>
          <p:cNvPr id="29" name="Shape 23"/>
          <p:cNvSpPr/>
          <p:nvPr/>
        </p:nvSpPr>
        <p:spPr>
          <a:xfrm>
            <a:off x="667512" y="4142232"/>
            <a:ext cx="1901952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40664" y="4142232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先带着问题</a:t>
            </a:r>
            <a:endParaRPr lang="en-US" sz="1800" dirty="0"/>
          </a:p>
        </p:txBody>
      </p:sp>
      <p:sp>
        <p:nvSpPr>
          <p:cNvPr id="31" name="Shape 25"/>
          <p:cNvSpPr/>
          <p:nvPr/>
        </p:nvSpPr>
        <p:spPr>
          <a:xfrm>
            <a:off x="2907792" y="4123944"/>
            <a:ext cx="1892808" cy="1234440"/>
          </a:xfrm>
          <a:prstGeom prst="roundRect">
            <a:avLst>
              <a:gd name="adj" fmla="val 1185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2" name="Image 4" descr="/workspace/mobile-lab/experiments/006-memory-factory/assets/icons/circle-help-36369B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0168" y="4297680"/>
            <a:ext cx="438912" cy="43891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2999232" y="4928616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提出问题</a:t>
            </a:r>
            <a:endParaRPr lang="en-US" sz="1900" dirty="0"/>
          </a:p>
        </p:txBody>
      </p:sp>
      <p:sp>
        <p:nvSpPr>
          <p:cNvPr id="34" name="Shape 27"/>
          <p:cNvSpPr/>
          <p:nvPr/>
        </p:nvSpPr>
        <p:spPr>
          <a:xfrm>
            <a:off x="4809744" y="4727448"/>
            <a:ext cx="246888" cy="0"/>
          </a:xfrm>
          <a:prstGeom prst="line">
            <a:avLst/>
          </a:prstGeom>
          <a:noFill/>
          <a:ln w="2159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35" name="Shape 28"/>
          <p:cNvSpPr/>
          <p:nvPr/>
        </p:nvSpPr>
        <p:spPr>
          <a:xfrm>
            <a:off x="5102352" y="4123944"/>
            <a:ext cx="1892808" cy="1234440"/>
          </a:xfrm>
          <a:prstGeom prst="roundRect">
            <a:avLst>
              <a:gd name="adj" fmla="val 1185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6" name="Image 5" descr="/workspace/mobile-lab/experiments/006-memory-factory/assets/icons/search-36369B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24728" y="4297680"/>
            <a:ext cx="438912" cy="43891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193792" y="4928616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寻找答案</a:t>
            </a:r>
            <a:endParaRPr lang="en-US" sz="1900" dirty="0"/>
          </a:p>
        </p:txBody>
      </p:sp>
      <p:sp>
        <p:nvSpPr>
          <p:cNvPr id="38" name="Shape 30"/>
          <p:cNvSpPr/>
          <p:nvPr/>
        </p:nvSpPr>
        <p:spPr>
          <a:xfrm>
            <a:off x="7004304" y="4727448"/>
            <a:ext cx="246888" cy="0"/>
          </a:xfrm>
          <a:prstGeom prst="line">
            <a:avLst/>
          </a:prstGeom>
          <a:noFill/>
          <a:ln w="2159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39" name="Shape 31"/>
          <p:cNvSpPr/>
          <p:nvPr/>
        </p:nvSpPr>
        <p:spPr>
          <a:xfrm>
            <a:off x="7296912" y="4123944"/>
            <a:ext cx="1892808" cy="1234440"/>
          </a:xfrm>
          <a:prstGeom prst="roundRect">
            <a:avLst>
              <a:gd name="adj" fmla="val 1185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40" name="Image 6" descr="/workspace/mobile-lab/experiments/006-memory-factory/assets/icons/network-36369B.sv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019288" y="4297680"/>
            <a:ext cx="438912" cy="438912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7388352" y="4928616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产生连接</a:t>
            </a:r>
            <a:endParaRPr lang="en-US" sz="1900" dirty="0"/>
          </a:p>
        </p:txBody>
      </p:sp>
      <p:sp>
        <p:nvSpPr>
          <p:cNvPr id="42" name="Shape 33"/>
          <p:cNvSpPr/>
          <p:nvPr/>
        </p:nvSpPr>
        <p:spPr>
          <a:xfrm>
            <a:off x="9198864" y="4727448"/>
            <a:ext cx="246888" cy="0"/>
          </a:xfrm>
          <a:prstGeom prst="line">
            <a:avLst/>
          </a:prstGeom>
          <a:noFill/>
          <a:ln w="2159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43" name="Shape 34"/>
          <p:cNvSpPr/>
          <p:nvPr/>
        </p:nvSpPr>
        <p:spPr>
          <a:xfrm>
            <a:off x="9491472" y="4123944"/>
            <a:ext cx="1892808" cy="1234440"/>
          </a:xfrm>
          <a:prstGeom prst="roundRect">
            <a:avLst>
              <a:gd name="adj" fmla="val 1185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44" name="Image 7" descr="/workspace/mobile-lab/experiments/006-memory-factory/assets/icons/lightbulb-36369B.sv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213848" y="4297680"/>
            <a:ext cx="438912" cy="438912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9582912" y="4928616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理解表达</a:t>
            </a:r>
            <a:endParaRPr lang="en-US" sz="1900" dirty="0"/>
          </a:p>
        </p:txBody>
      </p:sp>
      <p:sp>
        <p:nvSpPr>
          <p:cNvPr id="46" name="Text 36"/>
          <p:cNvSpPr/>
          <p:nvPr/>
        </p:nvSpPr>
        <p:spPr>
          <a:xfrm>
            <a:off x="2962656" y="5596128"/>
            <a:ext cx="8394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例：为什么“夏天”北半球白天更长？</a:t>
            </a:r>
            <a:endParaRPr lang="en-US" sz="2000" dirty="0"/>
          </a:p>
        </p:txBody>
      </p:sp>
      <p:sp>
        <p:nvSpPr>
          <p:cNvPr id="47" name="Shape 37"/>
          <p:cNvSpPr/>
          <p:nvPr/>
        </p:nvSpPr>
        <p:spPr>
          <a:xfrm>
            <a:off x="530352" y="5943600"/>
            <a:ext cx="11128248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8" name="Text 38"/>
          <p:cNvSpPr/>
          <p:nvPr/>
        </p:nvSpPr>
        <p:spPr>
          <a:xfrm>
            <a:off x="758952" y="5980176"/>
            <a:ext cx="10671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带着问题学，让知识有地方连接。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记忆升级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记忆升级地图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四条路径，一起帮助重要的信息留下来。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18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DADBEA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23360" y="2674620"/>
            <a:ext cx="292608" cy="0"/>
          </a:xfrm>
          <a:prstGeom prst="line">
            <a:avLst/>
          </a:prstGeom>
          <a:noFill/>
          <a:ln w="27940">
            <a:solidFill>
              <a:srgbClr val="3975D7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315968" y="2674620"/>
            <a:ext cx="0" cy="635508"/>
          </a:xfrm>
          <a:prstGeom prst="line">
            <a:avLst/>
          </a:prstGeom>
          <a:noFill/>
          <a:ln w="27940">
            <a:solidFill>
              <a:srgbClr val="3975D7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4315968" y="3310128"/>
            <a:ext cx="265176" cy="0"/>
          </a:xfrm>
          <a:prstGeom prst="line">
            <a:avLst/>
          </a:prstGeom>
          <a:noFill/>
          <a:ln w="27940">
            <a:solidFill>
              <a:srgbClr val="3975D7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270248" y="2628900"/>
            <a:ext cx="91440" cy="91440"/>
          </a:xfrm>
          <a:prstGeom prst="ellipse">
            <a:avLst/>
          </a:prstGeom>
          <a:solidFill>
            <a:srgbClr val="3975D7"/>
          </a:solidFill>
          <a:ln w="12700">
            <a:solidFill>
              <a:srgbClr val="3975D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7882128" y="2674620"/>
            <a:ext cx="301752" cy="0"/>
          </a:xfrm>
          <a:prstGeom prst="line">
            <a:avLst/>
          </a:prstGeom>
          <a:noFill/>
          <a:ln w="27940">
            <a:solidFill>
              <a:srgbClr val="36369B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882128" y="2674620"/>
            <a:ext cx="0" cy="635508"/>
          </a:xfrm>
          <a:prstGeom prst="line">
            <a:avLst/>
          </a:prstGeom>
          <a:noFill/>
          <a:ln w="27940">
            <a:solidFill>
              <a:srgbClr val="36369B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 flipH="1">
            <a:off x="7616952" y="3310128"/>
            <a:ext cx="265176" cy="0"/>
          </a:xfrm>
          <a:prstGeom prst="line">
            <a:avLst/>
          </a:prstGeom>
          <a:noFill/>
          <a:ln w="2794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836408" y="2628900"/>
            <a:ext cx="91440" cy="91440"/>
          </a:xfrm>
          <a:prstGeom prst="ellipse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23360" y="5052060"/>
            <a:ext cx="292608" cy="0"/>
          </a:xfrm>
          <a:prstGeom prst="line">
            <a:avLst/>
          </a:prstGeom>
          <a:noFill/>
          <a:ln w="27940">
            <a:solidFill>
              <a:srgbClr val="3975D7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 flipV="1">
            <a:off x="4315968" y="4206240"/>
            <a:ext cx="0" cy="845820"/>
          </a:xfrm>
          <a:prstGeom prst="line">
            <a:avLst/>
          </a:prstGeom>
          <a:noFill/>
          <a:ln w="27940">
            <a:solidFill>
              <a:srgbClr val="3975D7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4315968" y="4206240"/>
            <a:ext cx="265176" cy="0"/>
          </a:xfrm>
          <a:prstGeom prst="line">
            <a:avLst/>
          </a:prstGeom>
          <a:noFill/>
          <a:ln w="27940">
            <a:solidFill>
              <a:srgbClr val="3975D7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270248" y="5006340"/>
            <a:ext cx="91440" cy="91440"/>
          </a:xfrm>
          <a:prstGeom prst="ellipse">
            <a:avLst/>
          </a:prstGeom>
          <a:solidFill>
            <a:srgbClr val="3975D7"/>
          </a:solidFill>
          <a:ln w="12700">
            <a:solidFill>
              <a:srgbClr val="3975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>
            <a:off x="7882128" y="5052060"/>
            <a:ext cx="301752" cy="0"/>
          </a:xfrm>
          <a:prstGeom prst="line">
            <a:avLst/>
          </a:prstGeom>
          <a:noFill/>
          <a:ln w="27940">
            <a:solidFill>
              <a:srgbClr val="36369B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 flipV="1">
            <a:off x="7882128" y="4206240"/>
            <a:ext cx="0" cy="845820"/>
          </a:xfrm>
          <a:prstGeom prst="line">
            <a:avLst/>
          </a:prstGeom>
          <a:noFill/>
          <a:ln w="27940">
            <a:solidFill>
              <a:srgbClr val="36369B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 flipH="1">
            <a:off x="7616952" y="4206240"/>
            <a:ext cx="265176" cy="0"/>
          </a:xfrm>
          <a:prstGeom prst="line">
            <a:avLst/>
          </a:prstGeom>
          <a:noFill/>
          <a:ln w="2794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836408" y="5006340"/>
            <a:ext cx="91440" cy="91440"/>
          </a:xfrm>
          <a:prstGeom prst="ellipse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17720" y="2743200"/>
            <a:ext cx="2962656" cy="2221992"/>
          </a:xfrm>
          <a:prstGeom prst="roundRect">
            <a:avLst>
              <a:gd name="adj" fmla="val 6584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pic>
        <p:nvPicPr>
          <p:cNvPr id="29" name="Image 0" descr="/workspace/mobile-lab/experiments/006-memory-factory/assets/illustrations/brai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4880" y="2852928"/>
            <a:ext cx="2688336" cy="201168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4526280" y="4462272"/>
            <a:ext cx="3145536" cy="539496"/>
          </a:xfrm>
          <a:prstGeom prst="roundRect">
            <a:avLst>
              <a:gd name="adj" fmla="val 27119"/>
            </a:avLst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608576" y="4590288"/>
            <a:ext cx="2980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LONG-TERM MEMORY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074920" y="5193792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长时记忆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731520" y="1965960"/>
            <a:ext cx="329184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4" name="Image 1" descr="/workspace/mobile-lab/experiments/006-memory-factory/assets/icons/calendar-check-3975D7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2688" y="2203704"/>
            <a:ext cx="512064" cy="512064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1664208" y="2203704"/>
            <a:ext cx="213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重复复习</a:t>
            </a:r>
            <a:endParaRPr lang="en-US" sz="2400" dirty="0"/>
          </a:p>
        </p:txBody>
      </p:sp>
      <p:sp>
        <p:nvSpPr>
          <p:cNvPr id="36" name="Text 32"/>
          <p:cNvSpPr/>
          <p:nvPr/>
        </p:nvSpPr>
        <p:spPr>
          <a:xfrm>
            <a:off x="932688" y="2871216"/>
            <a:ext cx="2889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隔一段时间，再提取一次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8183880" y="1965960"/>
            <a:ext cx="329184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8" name="Image 2" descr="/workspace/mobile-lab/experiments/006-memory-factory/assets/icons/message-circle-36369B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5048" y="2203704"/>
            <a:ext cx="512064" cy="512064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9116568" y="2203704"/>
            <a:ext cx="213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主动输出</a:t>
            </a:r>
            <a:endParaRPr lang="en-US" sz="2400" dirty="0"/>
          </a:p>
        </p:txBody>
      </p:sp>
      <p:sp>
        <p:nvSpPr>
          <p:cNvPr id="40" name="Text 35"/>
          <p:cNvSpPr/>
          <p:nvPr/>
        </p:nvSpPr>
        <p:spPr>
          <a:xfrm>
            <a:off x="8385048" y="2871216"/>
            <a:ext cx="2889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合上书，用自己的话说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731520" y="4343400"/>
            <a:ext cx="329184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42" name="Image 3" descr="/workspace/mobile-lab/experiments/006-memory-factory/assets/icons/heart-handshake-3975D7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2688" y="4581144"/>
            <a:ext cx="512064" cy="512064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1664208" y="4581144"/>
            <a:ext cx="213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情绪参与</a:t>
            </a:r>
            <a:endParaRPr lang="en-US" sz="2400" dirty="0"/>
          </a:p>
        </p:txBody>
      </p:sp>
      <p:sp>
        <p:nvSpPr>
          <p:cNvPr id="44" name="Text 38"/>
          <p:cNvSpPr/>
          <p:nvPr/>
        </p:nvSpPr>
        <p:spPr>
          <a:xfrm>
            <a:off x="932688" y="5248656"/>
            <a:ext cx="2889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寻找兴趣、意义与成就感</a:t>
            </a:r>
            <a:endParaRPr lang="en-US" sz="1600" dirty="0"/>
          </a:p>
        </p:txBody>
      </p:sp>
      <p:sp>
        <p:nvSpPr>
          <p:cNvPr id="45" name="Shape 39"/>
          <p:cNvSpPr/>
          <p:nvPr/>
        </p:nvSpPr>
        <p:spPr>
          <a:xfrm>
            <a:off x="8183880" y="4343400"/>
            <a:ext cx="329184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46" name="Image 4" descr="/workspace/mobile-lab/experiments/006-memory-factory/assets/icons/circle-help-36369B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85048" y="4581144"/>
            <a:ext cx="512064" cy="512064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9116568" y="4581144"/>
            <a:ext cx="213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主动提问</a:t>
            </a:r>
            <a:endParaRPr lang="en-US" sz="2400" dirty="0"/>
          </a:p>
        </p:txBody>
      </p:sp>
      <p:sp>
        <p:nvSpPr>
          <p:cNvPr id="48" name="Text 41"/>
          <p:cNvSpPr/>
          <p:nvPr/>
        </p:nvSpPr>
        <p:spPr>
          <a:xfrm>
            <a:off x="8385048" y="5248656"/>
            <a:ext cx="2889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先问为什么，再找联系</a:t>
            </a:r>
            <a:endParaRPr lang="en-US" sz="1600" dirty="0"/>
          </a:p>
        </p:txBody>
      </p:sp>
      <p:sp>
        <p:nvSpPr>
          <p:cNvPr id="49" name="Text 42"/>
          <p:cNvSpPr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先注意到 → 再理解它 → 多次把它想起来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小组活动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我的记忆困扰墙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先选一个最像自己的，再补充一个真实情境。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1993392"/>
            <a:ext cx="3474720" cy="1298448"/>
          </a:xfrm>
          <a:prstGeom prst="roundRect">
            <a:avLst>
              <a:gd name="adj" fmla="val 11268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2688" y="1993392"/>
            <a:ext cx="457200" cy="54864"/>
          </a:xfrm>
          <a:prstGeom prst="rect">
            <a:avLst/>
          </a:prstGeom>
          <a:solidFill>
            <a:srgbClr val="3975D7"/>
          </a:solidFill>
          <a:ln w="12700">
            <a:solidFill>
              <a:srgbClr val="3975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2231136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背了就忘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78408" y="28346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背完古诗，隔天只剩开头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608576" y="1993392"/>
            <a:ext cx="3474720" cy="1298448"/>
          </a:xfrm>
          <a:prstGeom prst="roundRect">
            <a:avLst>
              <a:gd name="adj" fmla="val 11268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91456" y="1993392"/>
            <a:ext cx="457200" cy="54864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37176" y="2231136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考试突然空白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837176" y="28346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走出考场又想起来了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467344" y="1993392"/>
            <a:ext cx="3474720" cy="1298448"/>
          </a:xfrm>
          <a:prstGeom prst="roundRect">
            <a:avLst>
              <a:gd name="adj" fmla="val 11268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50224" y="1993392"/>
            <a:ext cx="457200" cy="54864"/>
          </a:xfrm>
          <a:prstGeom prst="rect">
            <a:avLst/>
          </a:prstGeom>
          <a:solidFill>
            <a:srgbClr val="3975D7"/>
          </a:solidFill>
          <a:ln w="12700">
            <a:solidFill>
              <a:srgbClr val="3975D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95944" y="2231136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单词记不住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695944" y="28346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看着认识，合上就不会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749808" y="3584448"/>
            <a:ext cx="3474720" cy="1298448"/>
          </a:xfrm>
          <a:prstGeom prst="roundRect">
            <a:avLst>
              <a:gd name="adj" fmla="val 11268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584448"/>
            <a:ext cx="457200" cy="54864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8408" y="382219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公式混淆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78408" y="442569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知道公式，却选错了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4608576" y="3584448"/>
            <a:ext cx="3474720" cy="1298448"/>
          </a:xfrm>
          <a:prstGeom prst="roundRect">
            <a:avLst>
              <a:gd name="adj" fmla="val 11268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91456" y="3584448"/>
            <a:ext cx="457200" cy="54864"/>
          </a:xfrm>
          <a:prstGeom prst="rect">
            <a:avLst/>
          </a:prstGeom>
          <a:solidFill>
            <a:srgbClr val="3975D7"/>
          </a:solidFill>
          <a:ln w="12700">
            <a:solidFill>
              <a:srgbClr val="3975D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37176" y="382219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古诗背串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837176" y="442569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上下句总和另一首混在一起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8467344" y="3584448"/>
            <a:ext cx="3474720" cy="1298448"/>
          </a:xfrm>
          <a:prstGeom prst="roundRect">
            <a:avLst>
              <a:gd name="adj" fmla="val 11268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50224" y="3584448"/>
            <a:ext cx="457200" cy="54864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95944" y="382219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知道却说不出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8695944" y="442569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答案就在嘴边，表达卡住了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758952" y="5413248"/>
            <a:ext cx="10680192" cy="676656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7" name="Image 0" descr="/workspace/mobile-lab/experiments/006-memory-factory/assets/icons/plus-36369B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976" y="5550408"/>
            <a:ext cx="347472" cy="347472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554480" y="555955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我的补充：在 __________ 的时候，我常常 __________。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小组活动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我的记忆升级计划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把“我要努力”变成一次具体行动。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956816"/>
            <a:ext cx="5093208" cy="3621024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185416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我的困扰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05840" y="3145536"/>
            <a:ext cx="4498848" cy="0"/>
          </a:xfrm>
          <a:prstGeom prst="line">
            <a:avLst/>
          </a:prstGeom>
          <a:noFill/>
          <a:ln w="1651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87552" y="3575304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我准备应用在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005840" y="4535424"/>
            <a:ext cx="3675888" cy="0"/>
          </a:xfrm>
          <a:prstGeom prst="line">
            <a:avLst/>
          </a:prstGeom>
          <a:noFill/>
          <a:ln w="1651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4846320" y="41148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学科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05840" y="5029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把情境说具体：哪一章、哪一类题？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172200" y="1956816"/>
            <a:ext cx="5276088" cy="3621024"/>
          </a:xfrm>
          <a:prstGeom prst="roundRect">
            <a:avLst>
              <a:gd name="adj" fmla="val 404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28232" y="2185416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我准备使用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437376" y="2889504"/>
            <a:ext cx="1124712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0528" y="2889504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策略 1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790688" y="3255264"/>
            <a:ext cx="3273552" cy="0"/>
          </a:xfrm>
          <a:prstGeom prst="line">
            <a:avLst/>
          </a:prstGeom>
          <a:noFill/>
          <a:ln w="1651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6437376" y="3602736"/>
            <a:ext cx="1124712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10528" y="3602736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策略 2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790688" y="3968496"/>
            <a:ext cx="3273552" cy="0"/>
          </a:xfrm>
          <a:prstGeom prst="line">
            <a:avLst/>
          </a:prstGeom>
          <a:noFill/>
          <a:ln w="1651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6428232" y="45262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下一次行动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446520" y="5321808"/>
            <a:ext cx="4617720" cy="0"/>
          </a:xfrm>
          <a:prstGeom prst="line">
            <a:avLst/>
          </a:prstGeom>
          <a:noFill/>
          <a:ln w="16510">
            <a:solidFill>
              <a:srgbClr val="36369B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822960" y="5833872"/>
            <a:ext cx="1847088" cy="365760"/>
          </a:xfrm>
          <a:prstGeom prst="roundRect">
            <a:avLst>
              <a:gd name="adj" fmla="val 40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5833872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什么时候？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2871216" y="5833872"/>
            <a:ext cx="1847088" cy="365760"/>
          </a:xfrm>
          <a:prstGeom prst="roundRect">
            <a:avLst>
              <a:gd name="adj" fmla="val 40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44368" y="5833872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做什么？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919472" y="5833872"/>
            <a:ext cx="1847088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92624" y="5833872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怎样检查？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031736" y="5797296"/>
            <a:ext cx="4306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例：明晚合上书，讲出3个历史事件的因果。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课程回顾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把整座“记忆工厂”装进脑中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记忆的关键，不只在“看过”，更在如何加工与提取。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21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" y="2231136"/>
            <a:ext cx="1261872" cy="2706624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2432304"/>
            <a:ext cx="868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外界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信息</a:t>
            </a:r>
            <a:endParaRPr lang="en-US" sz="2300" dirty="0"/>
          </a:p>
        </p:txBody>
      </p:sp>
      <p:pic>
        <p:nvPicPr>
          <p:cNvPr id="14" name="Image 0" descr="/workspace/mobile-lab/experiments/006-memory-factory/assets/icons/eye-3975D7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976" y="3429000"/>
            <a:ext cx="329184" cy="329184"/>
          </a:xfrm>
          <a:prstGeom prst="rect">
            <a:avLst/>
          </a:prstGeom>
        </p:spPr>
      </p:pic>
      <p:pic>
        <p:nvPicPr>
          <p:cNvPr id="15" name="Image 1" descr="/workspace/mobile-lab/experiments/006-memory-factory/assets/icons/ear-3975D7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0976" y="3877056"/>
            <a:ext cx="329184" cy="329184"/>
          </a:xfrm>
          <a:prstGeom prst="rect">
            <a:avLst/>
          </a:prstGeom>
        </p:spPr>
      </p:pic>
      <p:pic>
        <p:nvPicPr>
          <p:cNvPr id="16" name="Image 2" descr="/workspace/mobile-lab/experiments/006-memory-factory/assets/icons/hand-3975D7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0976" y="4325112"/>
            <a:ext cx="329184" cy="32918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874520" y="3566160"/>
            <a:ext cx="411480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2331720" y="2231136"/>
            <a:ext cx="2606040" cy="2706624"/>
          </a:xfrm>
          <a:prstGeom prst="roundRect">
            <a:avLst>
              <a:gd name="adj" fmla="val 5614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2496312" y="2432304"/>
            <a:ext cx="512064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2569464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3127248" y="244144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感觉记忆</a:t>
            </a:r>
            <a:endParaRPr lang="en-US" sz="2400" dirty="0"/>
          </a:p>
        </p:txBody>
      </p:sp>
      <p:pic>
        <p:nvPicPr>
          <p:cNvPr id="22" name="Image 3" descr="/workspace/mobile-lab/experiments/006-memory-factory/assets/icons/scan-eye-3975D7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64408" y="30632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468880" y="397764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0.25–2 秒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2478024" y="44897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瞬间快照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3630168" y="4956048"/>
            <a:ext cx="0" cy="420624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2404872" y="5449824"/>
            <a:ext cx="2459736" cy="365760"/>
          </a:xfrm>
          <a:prstGeom prst="roundRect">
            <a:avLst>
              <a:gd name="adj" fmla="val 40000"/>
            </a:avLst>
          </a:prstGeom>
          <a:solidFill>
            <a:srgbClr val="EEEEF3"/>
          </a:solidFill>
          <a:ln w="12700">
            <a:solidFill>
              <a:srgbClr val="EEEEF3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478024" y="5449824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遗忘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965192" y="3566160"/>
            <a:ext cx="475488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5486400" y="2231136"/>
            <a:ext cx="2606040" cy="2706624"/>
          </a:xfrm>
          <a:prstGeom prst="roundRect">
            <a:avLst>
              <a:gd name="adj" fmla="val 5614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650992" y="2432304"/>
            <a:ext cx="512064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724144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600" dirty="0"/>
          </a:p>
        </p:txBody>
      </p:sp>
      <p:sp>
        <p:nvSpPr>
          <p:cNvPr id="32" name="Text 26"/>
          <p:cNvSpPr/>
          <p:nvPr/>
        </p:nvSpPr>
        <p:spPr>
          <a:xfrm>
            <a:off x="6281928" y="244144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短时记忆</a:t>
            </a:r>
            <a:endParaRPr lang="en-US" sz="2400" dirty="0"/>
          </a:p>
        </p:txBody>
      </p:sp>
      <p:pic>
        <p:nvPicPr>
          <p:cNvPr id="33" name="Image 4" descr="/workspace/mobile-lab/experiments/006-memory-factory/assets/icons/panels-top-left-7655CE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19088" y="3063240"/>
            <a:ext cx="731520" cy="73152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623560" y="397764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1秒–1分钟</a:t>
            </a:r>
            <a:endParaRPr lang="en-US" sz="2400" dirty="0"/>
          </a:p>
        </p:txBody>
      </p:sp>
      <p:sp>
        <p:nvSpPr>
          <p:cNvPr id="35" name="Text 28"/>
          <p:cNvSpPr/>
          <p:nvPr/>
        </p:nvSpPr>
        <p:spPr>
          <a:xfrm>
            <a:off x="5632704" y="44897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7±2 组块*</a:t>
            </a:r>
            <a:endParaRPr lang="en-US" sz="1700" dirty="0"/>
          </a:p>
        </p:txBody>
      </p:sp>
      <p:sp>
        <p:nvSpPr>
          <p:cNvPr id="36" name="Shape 29"/>
          <p:cNvSpPr/>
          <p:nvPr/>
        </p:nvSpPr>
        <p:spPr>
          <a:xfrm>
            <a:off x="6784848" y="4956048"/>
            <a:ext cx="0" cy="420624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37" name="Shape 30"/>
          <p:cNvSpPr/>
          <p:nvPr/>
        </p:nvSpPr>
        <p:spPr>
          <a:xfrm>
            <a:off x="5559552" y="5449824"/>
            <a:ext cx="2459736" cy="365760"/>
          </a:xfrm>
          <a:prstGeom prst="roundRect">
            <a:avLst>
              <a:gd name="adj" fmla="val 40000"/>
            </a:avLst>
          </a:prstGeom>
          <a:solidFill>
            <a:srgbClr val="EEEEF3"/>
          </a:solidFill>
          <a:ln w="12700">
            <a:solidFill>
              <a:srgbClr val="EEEEF3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5632704" y="5449824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遗忘</a:t>
            </a:r>
            <a:endParaRPr lang="en-US" sz="1800" dirty="0"/>
          </a:p>
        </p:txBody>
      </p:sp>
      <p:sp>
        <p:nvSpPr>
          <p:cNvPr id="39" name="Shape 32"/>
          <p:cNvSpPr/>
          <p:nvPr/>
        </p:nvSpPr>
        <p:spPr>
          <a:xfrm>
            <a:off x="8119872" y="3566160"/>
            <a:ext cx="475488" cy="0"/>
          </a:xfrm>
          <a:prstGeom prst="line">
            <a:avLst/>
          </a:prstGeom>
          <a:noFill/>
          <a:ln w="25400">
            <a:solidFill>
              <a:srgbClr val="36369B"/>
            </a:solidFill>
            <a:prstDash val="solid"/>
            <a:headEnd type="none"/>
            <a:tailEnd type="triangle"/>
          </a:ln>
        </p:spPr>
      </p:sp>
      <p:sp>
        <p:nvSpPr>
          <p:cNvPr id="40" name="Shape 33"/>
          <p:cNvSpPr/>
          <p:nvPr/>
        </p:nvSpPr>
        <p:spPr>
          <a:xfrm>
            <a:off x="8641080" y="2231136"/>
            <a:ext cx="2606040" cy="2706624"/>
          </a:xfrm>
          <a:prstGeom prst="roundRect">
            <a:avLst>
              <a:gd name="adj" fmla="val 5614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805672" y="2432304"/>
            <a:ext cx="512064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8878824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600" dirty="0"/>
          </a:p>
        </p:txBody>
      </p:sp>
      <p:sp>
        <p:nvSpPr>
          <p:cNvPr id="43" name="Text 36"/>
          <p:cNvSpPr/>
          <p:nvPr/>
        </p:nvSpPr>
        <p:spPr>
          <a:xfrm>
            <a:off x="9436608" y="244144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长时记忆</a:t>
            </a:r>
            <a:endParaRPr lang="en-US" sz="2400" dirty="0"/>
          </a:p>
        </p:txBody>
      </p:sp>
      <p:pic>
        <p:nvPicPr>
          <p:cNvPr id="44" name="Image 5" descr="/workspace/mobile-lab/experiments/006-memory-factory/assets/icons/folder-open-36369B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73768" y="3063240"/>
            <a:ext cx="731520" cy="731520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8778240" y="397764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长期保存</a:t>
            </a:r>
            <a:endParaRPr lang="en-US" sz="2400" dirty="0"/>
          </a:p>
        </p:txBody>
      </p:sp>
      <p:sp>
        <p:nvSpPr>
          <p:cNvPr id="46" name="Text 38"/>
          <p:cNvSpPr/>
          <p:nvPr/>
        </p:nvSpPr>
        <p:spPr>
          <a:xfrm>
            <a:off x="8787384" y="44897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容量巨大</a:t>
            </a:r>
            <a:endParaRPr lang="en-US" sz="1700" dirty="0"/>
          </a:p>
        </p:txBody>
      </p:sp>
      <p:sp>
        <p:nvSpPr>
          <p:cNvPr id="47" name="Shape 39"/>
          <p:cNvSpPr/>
          <p:nvPr/>
        </p:nvSpPr>
        <p:spPr>
          <a:xfrm>
            <a:off x="9939528" y="4956048"/>
            <a:ext cx="0" cy="420624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48" name="Shape 40"/>
          <p:cNvSpPr/>
          <p:nvPr/>
        </p:nvSpPr>
        <p:spPr>
          <a:xfrm>
            <a:off x="8714232" y="5449824"/>
            <a:ext cx="2459736" cy="365760"/>
          </a:xfrm>
          <a:prstGeom prst="roundRect">
            <a:avLst>
              <a:gd name="adj" fmla="val 40000"/>
            </a:avLst>
          </a:prstGeom>
          <a:solidFill>
            <a:srgbClr val="EEEEF3"/>
          </a:solidFill>
          <a:ln w="12700">
            <a:solidFill>
              <a:srgbClr val="EEEEF3"/>
            </a:solidFill>
            <a:prstDash val="solid"/>
          </a:ln>
        </p:spPr>
      </p:sp>
      <p:sp>
        <p:nvSpPr>
          <p:cNvPr id="49" name="Text 41"/>
          <p:cNvSpPr/>
          <p:nvPr/>
        </p:nvSpPr>
        <p:spPr>
          <a:xfrm>
            <a:off x="8787384" y="5449824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遗忘</a:t>
            </a:r>
            <a:endParaRPr lang="en-US" sz="1800" dirty="0"/>
          </a:p>
        </p:txBody>
      </p:sp>
      <p:sp>
        <p:nvSpPr>
          <p:cNvPr id="50" name="Shape 42"/>
          <p:cNvSpPr/>
          <p:nvPr/>
        </p:nvSpPr>
        <p:spPr>
          <a:xfrm>
            <a:off x="4517136" y="1792224"/>
            <a:ext cx="1143000" cy="365760"/>
          </a:xfrm>
          <a:prstGeom prst="roundRect">
            <a:avLst>
              <a:gd name="adj" fmla="val 40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51" name="Text 43"/>
          <p:cNvSpPr/>
          <p:nvPr/>
        </p:nvSpPr>
        <p:spPr>
          <a:xfrm>
            <a:off x="4590288" y="1792224"/>
            <a:ext cx="996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注意</a:t>
            </a:r>
            <a:endParaRPr lang="en-US" sz="1800" dirty="0"/>
          </a:p>
        </p:txBody>
      </p:sp>
      <p:sp>
        <p:nvSpPr>
          <p:cNvPr id="52" name="Shape 44"/>
          <p:cNvSpPr/>
          <p:nvPr/>
        </p:nvSpPr>
        <p:spPr>
          <a:xfrm>
            <a:off x="6885432" y="1792224"/>
            <a:ext cx="3108960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45"/>
          <p:cNvSpPr/>
          <p:nvPr/>
        </p:nvSpPr>
        <p:spPr>
          <a:xfrm>
            <a:off x="6958584" y="179222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复述 / 理解 / 加工</a:t>
            </a:r>
            <a:endParaRPr lang="en-US" sz="1700" dirty="0"/>
          </a:p>
        </p:txBody>
      </p:sp>
      <p:sp>
        <p:nvSpPr>
          <p:cNvPr id="54" name="Shape 46"/>
          <p:cNvSpPr/>
          <p:nvPr/>
        </p:nvSpPr>
        <p:spPr>
          <a:xfrm>
            <a:off x="2514600" y="6016752"/>
            <a:ext cx="1280160" cy="365760"/>
          </a:xfrm>
          <a:prstGeom prst="roundRect">
            <a:avLst>
              <a:gd name="adj" fmla="val 40000"/>
            </a:avLst>
          </a:prstGeom>
          <a:solidFill>
            <a:srgbClr val="EDF3FC"/>
          </a:solidFill>
          <a:ln w="12700">
            <a:solidFill>
              <a:srgbClr val="EDF3FC"/>
            </a:solidFill>
            <a:prstDash val="solid"/>
          </a:ln>
        </p:spPr>
      </p:sp>
      <p:sp>
        <p:nvSpPr>
          <p:cNvPr id="55" name="Text 47"/>
          <p:cNvSpPr/>
          <p:nvPr/>
        </p:nvSpPr>
        <p:spPr>
          <a:xfrm>
            <a:off x="2587752" y="6016752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75D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注意</a:t>
            </a:r>
            <a:endParaRPr lang="en-US" sz="1600" dirty="0"/>
          </a:p>
        </p:txBody>
      </p:sp>
      <p:sp>
        <p:nvSpPr>
          <p:cNvPr id="56" name="Shape 48"/>
          <p:cNvSpPr/>
          <p:nvPr/>
        </p:nvSpPr>
        <p:spPr>
          <a:xfrm>
            <a:off x="5669280" y="6016752"/>
            <a:ext cx="1280160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57" name="Text 49"/>
          <p:cNvSpPr/>
          <p:nvPr/>
        </p:nvSpPr>
        <p:spPr>
          <a:xfrm>
            <a:off x="5742432" y="6016752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55C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加工</a:t>
            </a:r>
            <a:endParaRPr lang="en-US" sz="1600" dirty="0"/>
          </a:p>
        </p:txBody>
      </p:sp>
      <p:sp>
        <p:nvSpPr>
          <p:cNvPr id="58" name="Shape 50"/>
          <p:cNvSpPr/>
          <p:nvPr/>
        </p:nvSpPr>
        <p:spPr>
          <a:xfrm>
            <a:off x="8869680" y="6016752"/>
            <a:ext cx="2066544" cy="365760"/>
          </a:xfrm>
          <a:prstGeom prst="roundRect">
            <a:avLst>
              <a:gd name="adj" fmla="val 40000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59" name="Text 51"/>
          <p:cNvSpPr/>
          <p:nvPr/>
        </p:nvSpPr>
        <p:spPr>
          <a:xfrm>
            <a:off x="8942832" y="6016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复习 + 输出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带走一张地图 / MEMORY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040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遗忘，是大脑的正常工作方式。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30352" y="1325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学会记忆，不是要求自己过目不忘，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12064" y="6473952"/>
            <a:ext cx="11164824" cy="0"/>
          </a:xfrm>
          <a:prstGeom prst="line">
            <a:avLst/>
          </a:prstGeom>
          <a:noFill/>
          <a:ln w="10160">
            <a:solidFill>
              <a:srgbClr val="DADBE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12064" y="654710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2647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大脑“记忆”工厂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24160" y="65105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22 /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0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23576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19688" y="301752"/>
            <a:ext cx="329184" cy="45720"/>
          </a:xfrm>
          <a:prstGeom prst="rect">
            <a:avLst/>
          </a:prstGeom>
          <a:solidFill>
            <a:srgbClr val="36369B"/>
          </a:solidFill>
          <a:ln w="12700">
            <a:solidFill>
              <a:srgbClr val="36369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78308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而是学会让重要的信息留下来。</a:t>
            </a:r>
            <a:endParaRPr lang="en-US" sz="3100" dirty="0"/>
          </a:p>
        </p:txBody>
      </p:sp>
      <p:sp>
        <p:nvSpPr>
          <p:cNvPr id="13" name="Shape 11"/>
          <p:cNvSpPr/>
          <p:nvPr/>
        </p:nvSpPr>
        <p:spPr>
          <a:xfrm>
            <a:off x="4453128" y="2642616"/>
            <a:ext cx="3291840" cy="2679192"/>
          </a:xfrm>
          <a:prstGeom prst="roundRect">
            <a:avLst>
              <a:gd name="adj" fmla="val 546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pic>
        <p:nvPicPr>
          <p:cNvPr id="14" name="Image 0" descr="/workspace/mobile-lab/experiments/006-memory-factory/assets/illustrations/brai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63440" y="2743200"/>
            <a:ext cx="2871216" cy="215798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010912" y="4800600"/>
            <a:ext cx="2176272" cy="36576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84064" y="4800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重要的信息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051560" y="2825496"/>
            <a:ext cx="2359152" cy="87782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18" name="Image 1" descr="/workspace/mobile-lab/experiments/006-memory-factory/assets/icons/eye-3975D7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4440" y="3035808"/>
            <a:ext cx="448056" cy="4480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920240" y="3017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注意</a:t>
            </a:r>
            <a:endParaRPr lang="en-US" sz="2400" dirty="0"/>
          </a:p>
        </p:txBody>
      </p:sp>
      <p:sp>
        <p:nvSpPr>
          <p:cNvPr id="20" name="Shape 16"/>
          <p:cNvSpPr/>
          <p:nvPr/>
        </p:nvSpPr>
        <p:spPr>
          <a:xfrm>
            <a:off x="3447288" y="3264408"/>
            <a:ext cx="969264" cy="576072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1051560" y="4636008"/>
            <a:ext cx="2359152" cy="87782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2" name="Image 2" descr="/workspace/mobile-lab/experiments/006-memory-factory/assets/icons/network-3975D7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34440" y="4846320"/>
            <a:ext cx="448056" cy="4480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920240" y="482803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理解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 flipV="1">
            <a:off x="3447288" y="4572000"/>
            <a:ext cx="969264" cy="502920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8778240" y="2825496"/>
            <a:ext cx="2359152" cy="87782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26" name="Image 3" descr="/workspace/mobile-lab/experiments/006-memory-factory/assets/icons/refresh-cw-36369B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61120" y="3035808"/>
            <a:ext cx="448056" cy="4480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646920" y="3017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复习</a:t>
            </a:r>
            <a:endParaRPr lang="en-US" sz="2400" dirty="0"/>
          </a:p>
        </p:txBody>
      </p:sp>
      <p:sp>
        <p:nvSpPr>
          <p:cNvPr id="28" name="Shape 22"/>
          <p:cNvSpPr/>
          <p:nvPr/>
        </p:nvSpPr>
        <p:spPr>
          <a:xfrm flipH="1">
            <a:off x="7772400" y="3264408"/>
            <a:ext cx="969264" cy="576072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778240" y="4636008"/>
            <a:ext cx="2359152" cy="87782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DBEA"/>
            </a:solidFill>
            <a:prstDash val="solid"/>
          </a:ln>
        </p:spPr>
      </p:sp>
      <p:pic>
        <p:nvPicPr>
          <p:cNvPr id="30" name="Image 4" descr="/workspace/mobile-lab/experiments/006-memory-factory/assets/icons/message-circle-36369B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61120" y="4846320"/>
            <a:ext cx="448056" cy="44805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646920" y="482803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</a:t>
            </a:r>
            <a:endParaRPr lang="en-US" sz="2400" dirty="0"/>
          </a:p>
        </p:txBody>
      </p:sp>
      <p:sp>
        <p:nvSpPr>
          <p:cNvPr id="32" name="Shape 25"/>
          <p:cNvSpPr/>
          <p:nvPr/>
        </p:nvSpPr>
        <p:spPr>
          <a:xfrm flipH="1" flipV="1">
            <a:off x="7772400" y="4572000"/>
            <a:ext cx="969264" cy="502920"/>
          </a:xfrm>
          <a:prstGeom prst="line">
            <a:avLst/>
          </a:prstGeom>
          <a:noFill/>
          <a:ln w="25400">
            <a:solidFill>
              <a:srgbClr val="DADBEA"/>
            </a:solidFill>
            <a:prstDash val="solid"/>
            <a:headEnd type="none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530352" y="5888736"/>
            <a:ext cx="11128248" cy="512064"/>
          </a:xfrm>
          <a:prstGeom prst="roundRect">
            <a:avLst>
              <a:gd name="adj" fmla="val 28571"/>
            </a:avLst>
          </a:prstGeom>
          <a:solidFill>
            <a:srgbClr val="EEEDF9"/>
          </a:solidFill>
          <a:ln w="12700">
            <a:solidFill>
              <a:srgbClr val="EEEDF9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758952" y="5925312"/>
            <a:ext cx="10671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6369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今天带走的，不是“记性好坏”的标签，而是一种可尝试的方法。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mobile-lab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大脑“记忆”工厂</dc:title>
  <dc:subject>40分钟初中心理健康课 · 记忆的信息加工与学习策略</dc:subject>
  <dc:creator>Pocket Creative Lab</dc:creator>
  <cp:lastModifiedBy>Pocket Creative Lab</cp:lastModifiedBy>
  <cp:revision>1</cp:revision>
  <dcterms:created xsi:type="dcterms:W3CDTF">2026-10-28T15:17:15Z</dcterms:created>
  <dcterms:modified xsi:type="dcterms:W3CDTF">2026-10-28T15:17:15Z</dcterms:modified>
</cp:coreProperties>
</file>