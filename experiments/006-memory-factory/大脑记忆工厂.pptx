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6"/>
          <c:w val="0.87"/>
          <c:h val="0.85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未复习 · 示意</c:v>
                </c:pt>
              </c:strCache>
            </c:strRef>
          </c:tx>
          <c:spPr>
            <a:solidFill>
              <a:srgbClr val="62647B"/>
            </a:solidFill>
            <a:ln w="38100" cap="flat">
              <a:solidFill>
                <a:srgbClr val="6264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2647B"/>
              </a:solidFill>
              <a:ln w="9525" cap="flat">
                <a:solidFill>
                  <a:srgbClr val="6264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100</c:v>
                </c:pt>
                <c:pt idx="1">
                  <c:v>86.00423735844288</c:v>
                </c:pt>
                <c:pt idx="2">
                  <c:v>74.45699186587083</c:v>
                </c:pt>
                <c:pt idx="3">
                  <c:v>64.92990271177165</c:v>
                </c:pt>
                <c:pt idx="4">
                  <c:v>57.06954953849403</c:v>
                </c:pt>
                <c:pt idx="5">
                  <c:v>50.58434183136646</c:v>
                </c:pt>
                <c:pt idx="6">
                  <c:v>45.23370197111581</c:v>
                </c:pt>
                <c:pt idx="7">
                  <c:v>40.8191406791717</c:v>
                </c:pt>
                <c:pt idx="8">
                  <c:v>37.176893787335786</c:v>
                </c:pt>
                <c:pt idx="9">
                  <c:v>34.17184718275092</c:v>
                </c:pt>
                <c:pt idx="10">
                  <c:v>31.692524565723403</c:v>
                </c:pt>
                <c:pt idx="11">
                  <c:v>29.646952084442894</c:v>
                </c:pt>
                <c:pt idx="12">
                  <c:v>27.959246439588675</c:v>
                </c:pt>
                <c:pt idx="13">
                  <c:v>26.566799889911906</c:v>
                </c:pt>
                <c:pt idx="14">
                  <c:v>25.417957732739275</c:v>
                </c:pt>
                <c:pt idx="15">
                  <c:v>24.470102102371676</c:v>
                </c:pt>
                <c:pt idx="16">
                  <c:v>23.688071002267684</c:v>
                </c:pt>
                <c:pt idx="17">
                  <c:v>23.04285392285583</c:v>
                </c:pt>
                <c:pt idx="18">
                  <c:v>22.510515657140566</c:v>
                </c:pt>
                <c:pt idx="19">
                  <c:v>22.071308391574913</c:v>
                </c:pt>
                <c:pt idx="20">
                  <c:v>21.708939134000566</c:v>
                </c:pt>
                <c:pt idx="21">
                  <c:v>21.409965302896314</c:v>
                </c:pt>
                <c:pt idx="22">
                  <c:v>21.163296056494215</c:v>
                </c:pt>
                <c:pt idx="23">
                  <c:v>20.959780862887307</c:v>
                </c:pt>
                <c:pt idx="24">
                  <c:v>20.791870048576314</c:v>
                </c:pt>
                <c:pt idx="25">
                  <c:v>20.653334733040907</c:v>
                </c:pt>
                <c:pt idx="26">
                  <c:v>20.539035759926836</c:v>
                </c:pt>
                <c:pt idx="27">
                  <c:v>20.444733053036245</c:v>
                </c:pt>
                <c:pt idx="28">
                  <c:v>20.366928324921865</c:v>
                </c:pt>
                <c:pt idx="29">
                  <c:v>20.302735303145983</c:v>
                </c:pt>
                <c:pt idx="30">
                  <c:v>20.249772660070345</c:v>
                </c:pt>
                <c:pt idx="31">
                  <c:v>20.20607567426166</c:v>
                </c:pt>
                <c:pt idx="32">
                  <c:v>20.170023346472096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间隔复习 · 示意</c:v>
                </c:pt>
              </c:strCache>
            </c:strRef>
          </c:tx>
          <c:spPr>
            <a:solidFill>
              <a:srgbClr val="3975D7"/>
            </a:solidFill>
            <a:ln w="38100" cap="flat">
              <a:solidFill>
                <a:srgbClr val="3975D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975D7"/>
              </a:solidFill>
              <a:ln w="9525" cap="flat">
                <a:solidFill>
                  <a:srgbClr val="3975D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100</c:v>
                </c:pt>
                <c:pt idx="1">
                  <c:v>86.00423735844288</c:v>
                </c:pt>
                <c:pt idx="2">
                  <c:v>74.45699186587083</c:v>
                </c:pt>
                <c:pt idx="3">
                  <c:v>64.92990271177165</c:v>
                </c:pt>
                <c:pt idx="4">
                  <c:v>57.06954953849403</c:v>
                </c:pt>
                <c:pt idx="5">
                  <c:v>97</c:v>
                </c:pt>
                <c:pt idx="6">
                  <c:v>90.65557635772936</c:v>
                </c:pt>
                <c:pt idx="7">
                  <c:v>85.46120161124738</c:v>
                </c:pt>
                <c:pt idx="8">
                  <c:v>81.20840726329092</c:v>
                </c:pt>
                <c:pt idx="9">
                  <c:v>77.72651374410276</c:v>
                </c:pt>
                <c:pt idx="10">
                  <c:v>74.87578044100049</c:v>
                </c:pt>
                <c:pt idx="11">
                  <c:v>72.54179741692707</c:v>
                </c:pt>
                <c:pt idx="12">
                  <c:v>70.63089373795623</c:v>
                </c:pt>
                <c:pt idx="13">
                  <c:v>98</c:v>
                </c:pt>
                <c:pt idx="14">
                  <c:v>95.26582223717361</c:v>
                </c:pt>
                <c:pt idx="15">
                  <c:v>92.81917247583701</c:v>
                </c:pt>
                <c:pt idx="16">
                  <c:v>90.62981407491853</c:v>
                </c:pt>
                <c:pt idx="17">
                  <c:v>88.67069009917881</c:v>
                </c:pt>
                <c:pt idx="18">
                  <c:v>86.91758893917326</c:v>
                </c:pt>
                <c:pt idx="19">
                  <c:v>85.34884509484739</c:v>
                </c:pt>
                <c:pt idx="20">
                  <c:v>83.9450714249341</c:v>
                </c:pt>
                <c:pt idx="21">
                  <c:v>82.68891955318688</c:v>
                </c:pt>
                <c:pt idx="22">
                  <c:v>81.5648654704575</c:v>
                </c:pt>
                <c:pt idx="23">
                  <c:v>80.55901768300555</c:v>
                </c:pt>
                <c:pt idx="24">
                  <c:v>79.65894553606279</c:v>
                </c:pt>
                <c:pt idx="25">
                  <c:v>99</c:v>
                </c:pt>
                <c:pt idx="26">
                  <c:v>97.66772385250343</c:v>
                </c:pt>
                <c:pt idx="27">
                  <c:v>96.46223054309175</c:v>
                </c:pt>
                <c:pt idx="28">
                  <c:v>95.37145508954404</c:v>
                </c:pt>
                <c:pt idx="29">
                  <c:v>94.38448064449895</c:v>
                </c:pt>
                <c:pt idx="30">
                  <c:v>93.49142923597687</c:v>
                </c:pt>
                <c:pt idx="31">
                  <c:v>92.68336290531637</c:v>
                </c:pt>
                <c:pt idx="32">
                  <c:v>91.95219425307974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7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2647B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【建议用时】0:20
开场：今天我们把大脑当成一座信息加工厂。请学生带着一个自己的记忆困扰参与。封面图中的线条表示信息进入，工厂是教学隐喻，并不对应大脑中的三个物理房间。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【建议用时】1:30
邀请举手：有没有走出家门后突然怀疑自己锁没锁门？保留悬念，不现场判定学生有没有锁。追问：熟练动作发生时，注意力可能在哪里？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【建议用时】1:30
这是虚构讨论情境。请学生想：两种版本可能都带着各自的视角。记忆会受情绪、后来的信息和提取过程影响；不能仅凭不一致断定谁撒谎，也不能认定家长版本一定正确。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【建议用时】0:40
强调工厂是帮助理解的比喻。记忆包含编码、保持和提取。丢失可以发生在多个环节，不是有一个专门负责丢掉记忆的房间。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【建议用时】6:30
请4名同学上台，每人负责6个词，其余同学看图记忆。教师每3秒读一个词，共24词。禁止写汉字、字母、数字或拼音。词表（每竖线为一组）：雨伞、钥匙、自行车、月亮、书包、面包｜篮球、眼镜、火车、树叶、闹钟、桥梁｜蝴蝶、帐篷、蛋糕、海浪、吉他、信封｜台灯、地图、风筝、雪人、相机、鞋子。最后随机提问，不按原顺序。计时约72秒，留时间邀请、解释、抢答。可让学生留在座位做简笔记录，避免行动不便者被排除。
黑板为4行×6列的24格，统一编号1—24；4名同学各负责6格。每词在3秒内读两遍。台下同学同步在脑中记忆全部物品。用时建议：讲规则与分工1分30秒，连续读词作画1分12秒，随机报号抢答约3分钟，余下时间过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【建议用时】2:30
请学生先报告亲身体验：容易记住哪一个词？画得具体、联想到生活、和相邻图连成故事，都可能提供额外线索。不要把这个活动当作正式的记忆能力测验，也不评价谁记性差。
依次追问：哪个物品最深刻、哪个转瞬忘记？为什么同样听见，有些留下有些消失？画出来就一定能记住吗？不把单次活动当成正式记忆测验。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【建议用时】0:45
简要定义：记忆是人脑对经历过的事物进行编码、保持和提取的过程。人们提取的是经过加工的表征，而非一段完整、绝对准确的视频。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【建议用时】1:30
按箭头走一遍：感觉记忆短暂保持输入；被注意的信息可能进入短时记忆；复述有助于维持，理解与组织有助于长期编码；每个阶段都可能流失。图为经典多存储模型的教学简化，并非真实解剖分区。感觉记忆不同通道时间不同；短时记忆并无固定1秒至1分钟的统一范围，此处按教案的近似表述讲解，不复述时常在数十秒内衰退。7±2来自经典研究，现代工作记忆研究在某些条件下常估计约4个组块。长时记忆也不保证永不遗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【建议用时】1:15
可请学生闭眼一瞬，再看教室，体验视觉印象的短暂残留；不要用强光或频闪。图中的逐渐变淡是概念示意，并不意味着大家都能看清同样多的字符。视觉感觉痕迹通常更短，听觉痕迹可持续更久。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【建议用时】1:30
说明短时保持是临时性的；持续复述可以延长停留。屏幕上时长是便于课堂理解的近似范围，具体任务差异很大。7±2为Miller的经典估计，不是每个人固定拥有7个格子；现代工作记忆研究在一些条件下约为4组块。避免用这个数字评价学生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【建议用时】2:00
组块化以熟悉缩写为材料。先遮住下半区，给学生3秒看上排，再问能回忆几个字母；揭示下排后比较。两排字符相同：C C T V N B A U F O，共10个。熟悉缩写的学生可形成3组。组块依赖已有知识和意义，而不是任意加框。
新版使用CCTV / NBA / UFO，全部为常见缩写；先确认学生了解含义，保持上下两行字母完全一致。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【建议用时】1:00
长时记忆包括事实、事件、技能等不同形式，图中只作生活化分类而非严格分类学。问：学“春天”的诗能连到哪些画面、情绪或生活经历？记忆不是整齐独立的文件夹，网络表示知识之间的联系。长期保存不等于永久准确、随时可提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【建议用时】0:45
让学生把“背了就忘”拆分：是从未注意、没有形成联系、还是后续缺少提取？图是策略诊断地图，不是遗忘的完整科学解释。干扰、提取线索不足、情境变化等也可能造成想不起来；想不起来未必等于痕迹已完全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【建议用时】1:15
图表是可编辑的PowerPoint原生折线图，数值是教学示意，并非艾宾浩斯原始实验数据或个人预测。关键规律是早期遗忘较快、随后放缓；在间隔中主动提取可帮助保持。当日、第2天、第7天为可执行的示例安排，需按难度、掌握情况和考试时间调整，不是普适最佳间隔。可以让学生说出下次要复习的一项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【建议用时】1:15
中心句是学习提醒，不是严格的能力判断：清楚讲解是检验理解的一种方式，表达困难也可能来自紧张、语言或提取困难。可示范“负数相减为什么变成加法”中解释卡住的一步，回去查后再讲。鼓励用自己的话，不背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【建议用时】1:00
杏仁核位于颞叶内侧，图为侧面脑的简化投影位置，并非可见于脑表面；情绪记忆涉及杏仁核与海马等网络的协作。情绪可以影响注意、编码与巩固，但强烈情绪不保证准确，过强压力可能干扰学习和回忆。不通过制造恐惧、羞辱或高压强化记忆；可用兴趣、成就感、个人意义参与。
增加简短了解：安全相关信息可能更容易获得注意，这并不保证一定记住。可用小目标、小奖励提升参与感，不用恐惧或压力强迫记忆。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【建议用时】0:45
普通阅读也可能有效，图中是对低投入、机械重复阅读的示意，并非每次看两遍都会遗忘。请学生把一个课题改成问题：历史事件为什么发生？数学这个步骤为什么成立？好奇心可以促进注意和探索，但仍需可靠资料、理解与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【建议用时】1:00
请学生用手指选一条自己最少使用的路径。强调四种方法可以组合，不是保证所有内容永不忘记的配方。重复复习尽量包含主动回忆，而非只重复盯着材料。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【建议用时】3:00
4人一组。每人用20秒说一个具体困扰，不使用“我记性就是差”这样的整体标签。组员先判断可能卡在注意、加工或后续提取的哪一环，再选两条策略。不要要求公开敏感或创伤经历。
本页讨论3分钟：每人写下一个具体困扰。第20页继续讨论3分钟，合计6分钟。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【建议用时】6:00
每组讨论后，每人完成自己的计划。示例：困扰—英语单词隔天忘；策略—间隔复习+主动输出；行动—明晚遮住中文写5个词，再用其中2个造句；检查—第2天和第7天尝试回忆。此页空白线及文字均可编辑。
本页前3分钟继续4人讨论并完成两种策略及学科计划；后3分钟邀请2—3组代表分享，教师简短点评。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【建议用时】3:00
先请学生不看笔记，口述信息经过哪三个阶段。再请同桌指出注意、理解加工、复习输出分别帮助什么。最后做退出条：写出一个“漏点”和一次可在24小时内完成的行动。可根据课堂时间遮挡关键词进行回忆。
新增3分钟整体知识地图回顾，用于补足原教案四环节合计37分钟与40分钟总课时之间的差额。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【建议用时】1:00
收束：遗忘很常见，今天学习的是可改变的策略。邀请学生在课后实行自己的下一次行动，下一节用简短回顾交流。若学生提出持续明显影响生活的记忆问题，课后个别了解，并按学校支持流程处理。
最后1分钟价值升华：遗忘不等于笨，记忆偶尔出错是正常现象，用合适的方法帮助重要信息留下来。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4" Type="http://schemas.openxmlformats.org/officeDocument/2006/relationships/image" Target="../media/image-14-3.png"/><Relationship Id="rId5" Type="http://schemas.openxmlformats.org/officeDocument/2006/relationships/image" Target="../media/image-14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hub" descr="/workspace/mobile-lab/experiments/006-memory-factory/assets/backgrounds/background-0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初中心理健康 / 40分钟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你的记忆，真的靠谱吗？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22</a:t>
            </a:r>
            <a:endParaRPr lang="en-US" sz="1100" dirty="0"/>
          </a:p>
        </p:txBody>
      </p:sp>
      <p:pic>
        <p:nvPicPr>
          <p:cNvPr id="10" name="场景插画：hub" descr="用于解释记忆与学习的原创扁平矢量场景：hub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4966" y="1773936"/>
            <a:ext cx="9502445" cy="395935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938528"/>
            <a:ext cx="106984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31520" y="1947672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03504" y="3429000"/>
            <a:ext cx="106984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76656" y="343814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听见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2194560" y="5193792"/>
            <a:ext cx="106984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267712" y="5202936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学过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893808" y="1920240"/>
            <a:ext cx="106984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966960" y="192938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做过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0149840" y="3520440"/>
            <a:ext cx="106984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22992" y="352958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声音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9381744" y="5166360"/>
            <a:ext cx="106984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454896" y="517550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经历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4114800" y="5257800"/>
            <a:ext cx="406908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87952" y="5266944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 · 筛选 · 加工 · 保存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94944" y="5861304"/>
            <a:ext cx="197144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9808" y="5916168"/>
            <a:ext cx="1861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信息进入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2698394" y="6117336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2904134" y="5861304"/>
            <a:ext cx="197144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958998" y="5916168"/>
            <a:ext cx="1861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注意筛选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4907585" y="6117336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5113325" y="5861304"/>
            <a:ext cx="197144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168189" y="5916168"/>
            <a:ext cx="1861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暂时保存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7116775" y="6117336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7322515" y="5861304"/>
            <a:ext cx="197144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377379" y="5916168"/>
            <a:ext cx="1861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理解加工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9325966" y="6117336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9531706" y="5861304"/>
            <a:ext cx="1971446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586570" y="5916168"/>
            <a:ext cx="1861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长期留下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campus" descr="/workspace/mobile-lab/experiments/006-memory-factory/assets/backgrounds/background-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探索记忆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我到底锁门了吗？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熟悉的动作，为什么会留下模糊的记忆？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22</a:t>
            </a:r>
            <a:endParaRPr lang="en-US" sz="1100" dirty="0"/>
          </a:p>
        </p:txBody>
      </p:sp>
      <p:pic>
        <p:nvPicPr>
          <p:cNvPr id="10" name="场景插画：stairs" descr="用于解释记忆与学习的原创扁平矢量场景：stair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52" y="1941576"/>
            <a:ext cx="4754880" cy="3962400"/>
          </a:xfrm>
          <a:prstGeom prst="rect">
            <a:avLst/>
          </a:prstGeom>
        </p:spPr>
      </p:pic>
      <p:pic>
        <p:nvPicPr>
          <p:cNvPr id="11" name="场景插画：door" descr="用于解释记忆与学习的原创扁平矢量场景：doo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752" y="2323338"/>
            <a:ext cx="3246120" cy="27051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010912" y="2395728"/>
            <a:ext cx="3200400" cy="134416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202936" y="2633472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“我刚刚……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到底锁没锁？”</a:t>
            </a:r>
            <a:endParaRPr lang="en-US" sz="2500" dirty="0"/>
          </a:p>
        </p:txBody>
      </p:sp>
      <p:pic>
        <p:nvPicPr>
          <p:cNvPr id="14" name="知识图标：circle-help" descr="/workspace/mobile-lab/experiments/006-memory-factory/assets/icons/circle-help-F39A45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1928" y="1874520"/>
            <a:ext cx="548640" cy="54864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 flipV="1">
            <a:off x="4416552" y="3182112"/>
            <a:ext cx="530352" cy="521208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16" name="Shape 9"/>
          <p:cNvSpPr/>
          <p:nvPr/>
        </p:nvSpPr>
        <p:spPr>
          <a:xfrm>
            <a:off x="8238744" y="3154680"/>
            <a:ext cx="310896" cy="0"/>
          </a:xfrm>
          <a:prstGeom prst="line">
            <a:avLst/>
          </a:prstGeom>
          <a:noFill/>
          <a:ln w="2540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7" name="Shape 10"/>
          <p:cNvSpPr/>
          <p:nvPr/>
        </p:nvSpPr>
        <p:spPr>
          <a:xfrm>
            <a:off x="5029200" y="4160520"/>
            <a:ext cx="3191256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102352" y="416966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现实：动作是否发生？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5029200" y="4736592"/>
            <a:ext cx="3191256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102352" y="474573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脑中：我感觉发生过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感觉记得很清楚，就一定是真的吗？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memory" descr="/workspace/mobile-lab/experiments/006-memory-factory/assets/backgrounds/background-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探索记忆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同一段童年，两种版本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情境讨论：第一次在亲友面前表演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1892808"/>
            <a:ext cx="452628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" y="1901952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我的童年记忆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903720" y="1892808"/>
            <a:ext cx="452628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76872" y="1901952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爸妈告诉我的版本</a:t>
            </a:r>
            <a:endParaRPr lang="en-US" sz="2200" dirty="0"/>
          </a:p>
        </p:txBody>
      </p:sp>
      <p:pic>
        <p:nvPicPr>
          <p:cNvPr id="14" name="场景插画：memory-a" descr="用于解释记忆与学习的原创扁平矢量场景：memory-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838" y="2487168"/>
            <a:ext cx="4046220" cy="2697480"/>
          </a:xfrm>
          <a:prstGeom prst="rect">
            <a:avLst/>
          </a:prstGeom>
        </p:spPr>
      </p:pic>
      <p:pic>
        <p:nvPicPr>
          <p:cNvPr id="15" name="场景插画：memory-b" descr="用于解释记忆与学习的原创扁平矢量场景：memory-b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2038" y="2487168"/>
            <a:ext cx="4046220" cy="2697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96128" y="31729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39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5600" dirty="0"/>
          </a:p>
        </p:txBody>
      </p:sp>
      <p:sp>
        <p:nvSpPr>
          <p:cNvPr id="17" name="Shape 11"/>
          <p:cNvSpPr/>
          <p:nvPr/>
        </p:nvSpPr>
        <p:spPr>
          <a:xfrm>
            <a:off x="804672" y="5102352"/>
            <a:ext cx="4416552" cy="557784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41832" y="5175504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“我忘词了，大家都在笑我。”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6995160" y="5102352"/>
            <a:ext cx="4416552" cy="557784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132320" y="5175504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“你唱完后，大家都鼓掌了。”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回忆可能带着感受和解释。大脑真的像录像机吗？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ab" descr="/workspace/mobile-lab/experiments/006-memory-factory/assets/backgrounds/background-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探索记忆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大脑不是录像机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它更像一座“信息加工厂”。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76656" y="1920240"/>
            <a:ext cx="2807208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知识图标：video" descr="/workspace/mobile-lab/experiments/006-memory-factory/assets/icons/video-3975D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112264"/>
            <a:ext cx="539496" cy="5394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18488" y="2057400"/>
            <a:ext cx="17007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原样录制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原样回放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639312" y="1984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4400" dirty="0"/>
          </a:p>
        </p:txBody>
      </p:sp>
      <p:sp>
        <p:nvSpPr>
          <p:cNvPr id="14" name="Shape 9"/>
          <p:cNvSpPr/>
          <p:nvPr/>
        </p:nvSpPr>
        <p:spPr>
          <a:xfrm>
            <a:off x="4517136" y="2112264"/>
            <a:ext cx="687628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90288" y="2121408"/>
            <a:ext cx="6729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→ 组织 → 留下痕迹</a:t>
            </a:r>
            <a:endParaRPr lang="en-US" sz="2300" dirty="0"/>
          </a:p>
        </p:txBody>
      </p:sp>
      <p:pic>
        <p:nvPicPr>
          <p:cNvPr id="16" name="场景插画：factory" descr="用于解释记忆与学习的原创扁平矢量场景：factory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9072" y="2688336"/>
            <a:ext cx="8723376" cy="29077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22376" y="5715000"/>
            <a:ext cx="1958645" cy="539496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77240" y="5769864"/>
            <a:ext cx="184891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2713025" y="5984748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2918765" y="5715000"/>
            <a:ext cx="1958645" cy="539496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973629" y="5769864"/>
            <a:ext cx="184891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筛选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4909414" y="5984748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5115154" y="5715000"/>
            <a:ext cx="1958645" cy="539496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170018" y="5769864"/>
            <a:ext cx="184891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加工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105802" y="5984748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311542" y="5715000"/>
            <a:ext cx="1958645" cy="539496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366406" y="5769864"/>
            <a:ext cx="184891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302191" y="5984748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507931" y="5715000"/>
            <a:ext cx="1958645" cy="539496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562795" y="5769864"/>
            <a:ext cx="184891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丢失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classroom" descr="/workspace/mobile-lab/experiments/006-memory-factory/assets/backgrounds/background-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体验记忆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CHALLENGE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我画我猜：4人上台，全班一起体验记忆与遗忘。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03504" y="1938528"/>
            <a:ext cx="7315200" cy="2487168"/>
          </a:xfrm>
          <a:prstGeom prst="roundRect">
            <a:avLst>
              <a:gd name="adj" fmla="val 4412"/>
            </a:avLst>
          </a:prstGeom>
          <a:solidFill>
            <a:srgbClr val="36369B"/>
          </a:solidFill>
          <a:ln w="12700">
            <a:solidFill>
              <a:srgbClr val="36369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112264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248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pic>
        <p:nvPicPr>
          <p:cNvPr id="13" name="知识图标：umbrella" descr="/workspace/mobile-lab/experiments/006-memory-factory/assets/icons/umbrella-36369B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2456" y="2167128"/>
            <a:ext cx="347472" cy="3474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911096" y="2112264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975104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知识图标：key-round" descr="/workspace/mobile-lab/experiments/006-memory-factory/assets/icons/key-round-36369B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6312" y="2167128"/>
            <a:ext cx="347472" cy="3474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044952" y="2112264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108960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知识图标：bike" descr="/workspace/mobile-lab/experiments/006-memory-factory/assets/icons/bike-36369B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0168" y="2167128"/>
            <a:ext cx="347472" cy="34747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178808" y="2112264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242816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312664" y="2112264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376672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446520" y="2112264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510528" y="215798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777240" y="2624328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41248" y="26700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1911096" y="2624328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975104" y="26700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3044952" y="2624328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108960" y="26700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178808" y="2624328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242816" y="26700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312664" y="2624328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376672" y="26700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6446520" y="2624328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510528" y="267004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777240" y="3136392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41248" y="31821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1911096" y="3136392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975104" y="31821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3044952" y="3136392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108960" y="31821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4178808" y="3136392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242816" y="31821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600" dirty="0"/>
          </a:p>
        </p:txBody>
      </p:sp>
      <p:sp>
        <p:nvSpPr>
          <p:cNvPr id="46" name="Shape 39"/>
          <p:cNvSpPr/>
          <p:nvPr/>
        </p:nvSpPr>
        <p:spPr>
          <a:xfrm>
            <a:off x="5312664" y="3136392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376672" y="31821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600" dirty="0"/>
          </a:p>
        </p:txBody>
      </p:sp>
      <p:sp>
        <p:nvSpPr>
          <p:cNvPr id="48" name="Shape 41"/>
          <p:cNvSpPr/>
          <p:nvPr/>
        </p:nvSpPr>
        <p:spPr>
          <a:xfrm>
            <a:off x="6446520" y="3136392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510528" y="31821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600" dirty="0"/>
          </a:p>
        </p:txBody>
      </p:sp>
      <p:sp>
        <p:nvSpPr>
          <p:cNvPr id="50" name="Shape 43"/>
          <p:cNvSpPr/>
          <p:nvPr/>
        </p:nvSpPr>
        <p:spPr>
          <a:xfrm>
            <a:off x="777240" y="3648456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41248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600" dirty="0"/>
          </a:p>
        </p:txBody>
      </p:sp>
      <p:sp>
        <p:nvSpPr>
          <p:cNvPr id="52" name="Shape 45"/>
          <p:cNvSpPr/>
          <p:nvPr/>
        </p:nvSpPr>
        <p:spPr>
          <a:xfrm>
            <a:off x="1911096" y="3648456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975104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600" dirty="0"/>
          </a:p>
        </p:txBody>
      </p:sp>
      <p:sp>
        <p:nvSpPr>
          <p:cNvPr id="54" name="Shape 47"/>
          <p:cNvSpPr/>
          <p:nvPr/>
        </p:nvSpPr>
        <p:spPr>
          <a:xfrm>
            <a:off x="3044952" y="3648456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3108960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600" dirty="0"/>
          </a:p>
        </p:txBody>
      </p:sp>
      <p:sp>
        <p:nvSpPr>
          <p:cNvPr id="56" name="Shape 49"/>
          <p:cNvSpPr/>
          <p:nvPr/>
        </p:nvSpPr>
        <p:spPr>
          <a:xfrm>
            <a:off x="4178808" y="3648456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4242816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600" dirty="0"/>
          </a:p>
        </p:txBody>
      </p:sp>
      <p:sp>
        <p:nvSpPr>
          <p:cNvPr id="58" name="Shape 51"/>
          <p:cNvSpPr/>
          <p:nvPr/>
        </p:nvSpPr>
        <p:spPr>
          <a:xfrm>
            <a:off x="5312664" y="3648456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5376672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600" dirty="0"/>
          </a:p>
        </p:txBody>
      </p:sp>
      <p:sp>
        <p:nvSpPr>
          <p:cNvPr id="60" name="Shape 53"/>
          <p:cNvSpPr/>
          <p:nvPr/>
        </p:nvSpPr>
        <p:spPr>
          <a:xfrm>
            <a:off x="6446520" y="3648456"/>
            <a:ext cx="1092708" cy="475488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6510528" y="36941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600" dirty="0"/>
          </a:p>
        </p:txBody>
      </p:sp>
      <p:sp>
        <p:nvSpPr>
          <p:cNvPr id="62" name="Shape 55"/>
          <p:cNvSpPr/>
          <p:nvPr/>
        </p:nvSpPr>
        <p:spPr>
          <a:xfrm>
            <a:off x="1691640" y="4480560"/>
            <a:ext cx="5047488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1764792" y="448970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1–24 编号画板 · 示意</a:t>
            </a:r>
            <a:endParaRPr lang="en-US" sz="1800" dirty="0"/>
          </a:p>
        </p:txBody>
      </p:sp>
      <p:pic>
        <p:nvPicPr>
          <p:cNvPr id="64" name="场景插画：students-four" descr="用于解释记忆与学习的原创扁平矢量场景：students-four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68290" y="4873752"/>
            <a:ext cx="3439324" cy="969264"/>
          </a:xfrm>
          <a:prstGeom prst="rect">
            <a:avLst/>
          </a:prstGeom>
        </p:spPr>
      </p:pic>
      <p:sp>
        <p:nvSpPr>
          <p:cNvPr id="65" name="Shape 57"/>
          <p:cNvSpPr/>
          <p:nvPr/>
        </p:nvSpPr>
        <p:spPr>
          <a:xfrm>
            <a:off x="8247888" y="1938528"/>
            <a:ext cx="3255264" cy="3785616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8467344" y="21671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4000" dirty="0"/>
          </a:p>
        </p:txBody>
      </p:sp>
      <p:sp>
        <p:nvSpPr>
          <p:cNvPr id="67" name="Text 59"/>
          <p:cNvSpPr/>
          <p:nvPr/>
        </p:nvSpPr>
        <p:spPr>
          <a:xfrm>
            <a:off x="9509760" y="219456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名同学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每人6格</a:t>
            </a:r>
            <a:endParaRPr lang="en-US" sz="1800" dirty="0"/>
          </a:p>
        </p:txBody>
      </p:sp>
      <p:sp>
        <p:nvSpPr>
          <p:cNvPr id="68" name="Text 60"/>
          <p:cNvSpPr/>
          <p:nvPr/>
        </p:nvSpPr>
        <p:spPr>
          <a:xfrm>
            <a:off x="8467344" y="3191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4000" dirty="0"/>
          </a:p>
        </p:txBody>
      </p:sp>
      <p:sp>
        <p:nvSpPr>
          <p:cNvPr id="69" name="Text 61"/>
          <p:cNvSpPr/>
          <p:nvPr/>
        </p:nvSpPr>
        <p:spPr>
          <a:xfrm>
            <a:off x="9509760" y="321868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个词语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台下同步记忆</a:t>
            </a:r>
            <a:endParaRPr lang="en-US" sz="1800" dirty="0"/>
          </a:p>
        </p:txBody>
      </p:sp>
      <p:sp>
        <p:nvSpPr>
          <p:cNvPr id="70" name="Text 62"/>
          <p:cNvSpPr/>
          <p:nvPr/>
        </p:nvSpPr>
        <p:spPr>
          <a:xfrm>
            <a:off x="8467344" y="42153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3s</a:t>
            </a:r>
            <a:endParaRPr lang="en-US" sz="4000" dirty="0"/>
          </a:p>
        </p:txBody>
      </p:sp>
      <p:sp>
        <p:nvSpPr>
          <p:cNvPr id="71" name="Text 63"/>
          <p:cNvSpPr/>
          <p:nvPr/>
        </p:nvSpPr>
        <p:spPr>
          <a:xfrm>
            <a:off x="9509760" y="4242816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每词3秒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读2遍并作画</a:t>
            </a:r>
            <a:endParaRPr lang="en-US" sz="1800" dirty="0"/>
          </a:p>
        </p:txBody>
      </p:sp>
      <p:sp>
        <p:nvSpPr>
          <p:cNvPr id="72" name="Shape 64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只画简笔画，禁止文字；教师随机报号，全班举手抢答。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ab" descr="/workspace/mobile-lab/experiments/006-memory-factory/assets/backgrounds/background-0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体验记忆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刚才，你的大脑做了什么？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听见、想象、画出、继续接收、再尝试想起来。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22</a:t>
            </a:r>
            <a:endParaRPr lang="en-US" sz="1100" dirty="0"/>
          </a:p>
        </p:txBody>
      </p:sp>
      <p:pic>
        <p:nvPicPr>
          <p:cNvPr id="10" name="场景插画：hearing" descr="用于解释记忆与学习的原创扁平矢量场景：heari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04" y="2496312"/>
            <a:ext cx="1975104" cy="14813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271016" y="1874520"/>
            <a:ext cx="62179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344168" y="188366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03504" y="427939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听到词语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2587752" y="3310128"/>
            <a:ext cx="256032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1591056" y="4764024"/>
            <a:ext cx="0" cy="411480"/>
          </a:xfrm>
          <a:prstGeom prst="line">
            <a:avLst/>
          </a:prstGeom>
          <a:noFill/>
          <a:ln w="2032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1271016" y="5285232"/>
            <a:ext cx="640080" cy="292608"/>
          </a:xfrm>
          <a:prstGeom prst="roundRect">
            <a:avLst>
              <a:gd name="adj" fmla="val 37500"/>
            </a:avLst>
          </a:prstGeom>
          <a:solidFill>
            <a:srgbClr val="DBDEED"/>
          </a:solidFill>
          <a:ln w="12700">
            <a:solidFill>
              <a:srgbClr val="DBDEE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399032" y="5641848"/>
            <a:ext cx="384048" cy="118872"/>
          </a:xfrm>
          <a:prstGeom prst="roundRect">
            <a:avLst>
              <a:gd name="adj" fmla="val 92308"/>
            </a:avLst>
          </a:prstGeom>
          <a:solidFill>
            <a:srgbClr val="E9EAF4"/>
          </a:solidFill>
          <a:ln w="12700">
            <a:solidFill>
              <a:srgbClr val="E9EAF4"/>
            </a:solidFill>
            <a:prstDash val="solid"/>
          </a:ln>
        </p:spPr>
      </p:sp>
      <p:pic>
        <p:nvPicPr>
          <p:cNvPr id="18" name="场景插画：imagine" descr="用于解释记忆与学习的原创扁平矢量场景：imagin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1216" y="2496312"/>
            <a:ext cx="1975104" cy="148132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538728" y="1874520"/>
            <a:ext cx="62179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611880" y="188366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2871216" y="427939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形成画面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4855464" y="3310128"/>
            <a:ext cx="256032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pic>
        <p:nvPicPr>
          <p:cNvPr id="23" name="场景插画：draw" descr="用于解释记忆与学习的原创扁平矢量场景：draw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38928" y="2496312"/>
            <a:ext cx="1975104" cy="148132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806440" y="1874520"/>
            <a:ext cx="62179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879592" y="188366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5138928" y="427939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画下来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7123176" y="3310128"/>
            <a:ext cx="256032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pic>
        <p:nvPicPr>
          <p:cNvPr id="28" name="场景插画：queue" descr="用于解释记忆与学习的原创扁平矢量场景：queu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6640" y="2496312"/>
            <a:ext cx="1975104" cy="148132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074152" y="1874520"/>
            <a:ext cx="62179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147304" y="188366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7406640" y="427939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继续接收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9390888" y="3310128"/>
            <a:ext cx="256032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8394192" y="4764024"/>
            <a:ext cx="0" cy="411480"/>
          </a:xfrm>
          <a:prstGeom prst="line">
            <a:avLst/>
          </a:prstGeom>
          <a:noFill/>
          <a:ln w="2032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8074152" y="5285232"/>
            <a:ext cx="640080" cy="292608"/>
          </a:xfrm>
          <a:prstGeom prst="roundRect">
            <a:avLst>
              <a:gd name="adj" fmla="val 37500"/>
            </a:avLst>
          </a:prstGeom>
          <a:solidFill>
            <a:srgbClr val="DBDEED"/>
          </a:solidFill>
          <a:ln w="12700">
            <a:solidFill>
              <a:srgbClr val="DBDEED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202168" y="5641848"/>
            <a:ext cx="384048" cy="118872"/>
          </a:xfrm>
          <a:prstGeom prst="roundRect">
            <a:avLst>
              <a:gd name="adj" fmla="val 92308"/>
            </a:avLst>
          </a:prstGeom>
          <a:solidFill>
            <a:srgbClr val="E9EAF4"/>
          </a:solidFill>
          <a:ln w="12700">
            <a:solidFill>
              <a:srgbClr val="E9EAF4"/>
            </a:solidFill>
            <a:prstDash val="solid"/>
          </a:ln>
        </p:spPr>
      </p:sp>
      <p:pic>
        <p:nvPicPr>
          <p:cNvPr id="36" name="场景插画：recall" descr="用于解释记忆与学习的原创扁平矢量场景：recall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4352" y="2496312"/>
            <a:ext cx="1975104" cy="148132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341864" y="1874520"/>
            <a:ext cx="62179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10415016" y="188366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9674352" y="427939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随机回忆</a:t>
            </a:r>
            <a:endParaRPr lang="en-US" sz="2200" dirty="0"/>
          </a:p>
        </p:txBody>
      </p:sp>
      <p:sp>
        <p:nvSpPr>
          <p:cNvPr id="40" name="Shape 31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为什么有的留下，有的消失？画出来，就一定记得住吗？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hub" descr="/workspace/mobile-lab/experiments/006-memory-factory/assets/backgrounds/background-07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认识记忆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记忆，是加工后留下的痕迹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见过、听过、想过、做过、经历过，都可能成为材料。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22</a:t>
            </a:r>
            <a:endParaRPr lang="en-US" sz="1100" dirty="0"/>
          </a:p>
        </p:txBody>
      </p:sp>
      <p:pic>
        <p:nvPicPr>
          <p:cNvPr id="10" name="场景插画：trace" descr="用于解释记忆与学习的原创扁平矢量场景：trac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" y="1926264"/>
            <a:ext cx="6455664" cy="364555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333488" y="2066544"/>
            <a:ext cx="4178808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653528" y="2432304"/>
            <a:ext cx="3547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人脑对经历过的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事物留下的反映</a:t>
            </a:r>
            <a:endParaRPr lang="en-US" sz="2700" dirty="0"/>
          </a:p>
        </p:txBody>
      </p:sp>
      <p:sp>
        <p:nvSpPr>
          <p:cNvPr id="13" name="Shape 8"/>
          <p:cNvSpPr/>
          <p:nvPr/>
        </p:nvSpPr>
        <p:spPr>
          <a:xfrm>
            <a:off x="7607808" y="3749040"/>
            <a:ext cx="1054608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62672" y="3803904"/>
            <a:ext cx="94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694420" y="4050792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8900160" y="3749040"/>
            <a:ext cx="1054608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955024" y="3803904"/>
            <a:ext cx="94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9986772" y="4050792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192512" y="3749040"/>
            <a:ext cx="1054608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47376" y="3803904"/>
            <a:ext cx="94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644384" y="47091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加工后的痕迹</a:t>
            </a:r>
            <a:endParaRPr lang="en-US" sz="2500" dirty="0"/>
          </a:p>
        </p:txBody>
      </p:sp>
      <p:sp>
        <p:nvSpPr>
          <p:cNvPr id="22" name="Shape 17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≠ VIDEO  ·  记忆不是原版录像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ab" descr="/workspace/mobile-lab/experiments/006-memory-factory/assets/backgrounds/background-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记忆三车间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记忆三车间：信息怎样留下来？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沿着一条路径，看见信息的进入、筛选、加工和保存。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39496" y="2542032"/>
            <a:ext cx="950976" cy="239572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72491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</a:t>
            </a:r>
            <a:endParaRPr lang="en-US" sz="2100" dirty="0"/>
          </a:p>
        </p:txBody>
      </p:sp>
      <p:pic>
        <p:nvPicPr>
          <p:cNvPr id="12" name="知识图标：eye" descr="/workspace/mobile-lab/experiments/006-memory-factory/assets/icons/eye-3975D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" y="3575304"/>
            <a:ext cx="310896" cy="310896"/>
          </a:xfrm>
          <a:prstGeom prst="rect">
            <a:avLst/>
          </a:prstGeom>
        </p:spPr>
      </p:pic>
      <p:pic>
        <p:nvPicPr>
          <p:cNvPr id="13" name="知识图标：ear" descr="/workspace/mobile-lab/experiments/006-memory-factory/assets/icons/ear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" y="3959352"/>
            <a:ext cx="310896" cy="310896"/>
          </a:xfrm>
          <a:prstGeom prst="rect">
            <a:avLst/>
          </a:prstGeom>
        </p:spPr>
      </p:pic>
      <p:pic>
        <p:nvPicPr>
          <p:cNvPr id="14" name="知识图标：hand" descr="/workspace/mobile-lab/experiments/006-memory-factory/assets/icons/hand-3975D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" y="4343400"/>
            <a:ext cx="310896" cy="31089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694176"/>
            <a:ext cx="283464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16" name="Shape 9"/>
          <p:cNvSpPr/>
          <p:nvPr/>
        </p:nvSpPr>
        <p:spPr>
          <a:xfrm>
            <a:off x="1828800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911096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感觉记忆</a:t>
            </a:r>
            <a:endParaRPr lang="en-US" sz="2300" dirty="0"/>
          </a:p>
        </p:txBody>
      </p:sp>
      <p:pic>
        <p:nvPicPr>
          <p:cNvPr id="18" name="场景插画：sensory-pod" descr="用于解释记忆与学习的原创扁平矢量场景：sensory-pod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240" y="2682050"/>
            <a:ext cx="2697480" cy="16859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911096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0.25–2 秒</a:t>
            </a:r>
            <a:endParaRPr lang="en-US" sz="2500" dirty="0"/>
          </a:p>
        </p:txBody>
      </p:sp>
      <p:sp>
        <p:nvSpPr>
          <p:cNvPr id="20" name="Text 12"/>
          <p:cNvSpPr/>
          <p:nvPr/>
        </p:nvSpPr>
        <p:spPr>
          <a:xfrm>
            <a:off x="1911096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瞬间快照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3264408" y="5266944"/>
            <a:ext cx="0" cy="265176"/>
          </a:xfrm>
          <a:prstGeom prst="line">
            <a:avLst/>
          </a:prstGeom>
          <a:noFill/>
          <a:ln w="2286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22" name="Shape 14"/>
          <p:cNvSpPr/>
          <p:nvPr/>
        </p:nvSpPr>
        <p:spPr>
          <a:xfrm>
            <a:off x="1975104" y="558698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048256" y="55961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4736592" y="3721608"/>
            <a:ext cx="356616" cy="0"/>
          </a:xfrm>
          <a:prstGeom prst="line">
            <a:avLst/>
          </a:prstGeom>
          <a:noFill/>
          <a:ln w="2794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25" name="Shape 17"/>
          <p:cNvSpPr/>
          <p:nvPr/>
        </p:nvSpPr>
        <p:spPr>
          <a:xfrm>
            <a:off x="5138928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221224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短时记忆</a:t>
            </a:r>
            <a:endParaRPr lang="en-US" sz="2300" dirty="0"/>
          </a:p>
        </p:txBody>
      </p:sp>
      <p:pic>
        <p:nvPicPr>
          <p:cNvPr id="27" name="场景插画：short-pod" descr="用于解释记忆与学习的原创扁平矢量场景：short-pod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0368" y="2682050"/>
            <a:ext cx="2697480" cy="16859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21224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1秒–1分钟</a:t>
            </a:r>
            <a:endParaRPr lang="en-US" sz="2500" dirty="0"/>
          </a:p>
        </p:txBody>
      </p:sp>
      <p:sp>
        <p:nvSpPr>
          <p:cNvPr id="29" name="Text 20"/>
          <p:cNvSpPr/>
          <p:nvPr/>
        </p:nvSpPr>
        <p:spPr>
          <a:xfrm>
            <a:off x="5221224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经典估计 7±2 组块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6574536" y="5266944"/>
            <a:ext cx="0" cy="265176"/>
          </a:xfrm>
          <a:prstGeom prst="line">
            <a:avLst/>
          </a:prstGeom>
          <a:noFill/>
          <a:ln w="2286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5285232" y="558698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358384" y="55961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046720" y="3721608"/>
            <a:ext cx="356616" cy="0"/>
          </a:xfrm>
          <a:prstGeom prst="line">
            <a:avLst/>
          </a:prstGeom>
          <a:noFill/>
          <a:ln w="2794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8449056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8531352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长时记忆</a:t>
            </a:r>
            <a:endParaRPr lang="en-US" sz="2300" dirty="0"/>
          </a:p>
        </p:txBody>
      </p:sp>
      <p:pic>
        <p:nvPicPr>
          <p:cNvPr id="36" name="场景插画：long-pod" descr="用于解释记忆与学习的原创扁平矢量场景：long-pod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0496" y="2682050"/>
            <a:ext cx="2697480" cy="168592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531352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长期保存</a:t>
            </a:r>
            <a:endParaRPr lang="en-US" sz="2500" dirty="0"/>
          </a:p>
        </p:txBody>
      </p:sp>
      <p:sp>
        <p:nvSpPr>
          <p:cNvPr id="38" name="Text 28"/>
          <p:cNvSpPr/>
          <p:nvPr/>
        </p:nvSpPr>
        <p:spPr>
          <a:xfrm>
            <a:off x="8531352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容量巨大 · 意义编码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9884664" y="5266944"/>
            <a:ext cx="0" cy="265176"/>
          </a:xfrm>
          <a:prstGeom prst="line">
            <a:avLst/>
          </a:prstGeom>
          <a:noFill/>
          <a:ln w="2286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8595360" y="558698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8668512" y="55961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</a:t>
            </a:r>
            <a:endParaRPr lang="en-US" sz="1800" dirty="0"/>
          </a:p>
        </p:txBody>
      </p:sp>
      <p:sp>
        <p:nvSpPr>
          <p:cNvPr id="42" name="Shape 32"/>
          <p:cNvSpPr/>
          <p:nvPr/>
        </p:nvSpPr>
        <p:spPr>
          <a:xfrm>
            <a:off x="4507992" y="2697480"/>
            <a:ext cx="896112" cy="393192"/>
          </a:xfrm>
          <a:prstGeom prst="roundRect">
            <a:avLst>
              <a:gd name="adj" fmla="val 2790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581144" y="2706624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</a:t>
            </a:r>
            <a:endParaRPr lang="en-US" sz="1700" dirty="0"/>
          </a:p>
        </p:txBody>
      </p:sp>
      <p:sp>
        <p:nvSpPr>
          <p:cNvPr id="44" name="Shape 34"/>
          <p:cNvSpPr/>
          <p:nvPr/>
        </p:nvSpPr>
        <p:spPr>
          <a:xfrm>
            <a:off x="7342632" y="2697480"/>
            <a:ext cx="1618488" cy="393192"/>
          </a:xfrm>
          <a:prstGeom prst="roundRect">
            <a:avLst>
              <a:gd name="adj" fmla="val 27907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415784" y="270662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复述 / 理解</a:t>
            </a:r>
            <a:endParaRPr lang="en-US" sz="1700" dirty="0"/>
          </a:p>
        </p:txBody>
      </p:sp>
      <p:sp>
        <p:nvSpPr>
          <p:cNvPr id="46" name="Text 36"/>
          <p:cNvSpPr/>
          <p:nvPr/>
        </p:nvSpPr>
        <p:spPr>
          <a:xfrm>
            <a:off x="1188720" y="6126480"/>
            <a:ext cx="9784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教学近似范围；时长、容量受材料、任务和策略影响。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classroom" descr="/workspace/mobile-lab/experiments/006-memory-factory/assets/backgrounds/background-0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记忆三车间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感觉记忆：瞬间快照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容量很大，停留却极短。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22</a:t>
            </a:r>
            <a:endParaRPr lang="en-US" sz="1100" dirty="0"/>
          </a:p>
        </p:txBody>
      </p:sp>
      <p:pic>
        <p:nvPicPr>
          <p:cNvPr id="10" name="场景插画：classroom-look" descr="用于解释记忆与学习的原创扁平矢量场景：classroom-look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072" y="2097845"/>
            <a:ext cx="4892040" cy="331153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60720" y="2304288"/>
            <a:ext cx="168249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870448" y="2615184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山  日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7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5760720" y="4014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7470648" y="3063240"/>
            <a:ext cx="201168" cy="0"/>
          </a:xfrm>
          <a:prstGeom prst="line">
            <a:avLst/>
          </a:prstGeom>
          <a:noFill/>
          <a:ln w="19050">
            <a:solidFill>
              <a:srgbClr val="CCD0E7"/>
            </a:solidFill>
            <a:prstDash val="solid"/>
            <a:headEnd type="none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7708392" y="2304288"/>
            <a:ext cx="168249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818120" y="2615184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A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山  日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8AA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7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7708392" y="4014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变淡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9418320" y="3063240"/>
            <a:ext cx="201168" cy="0"/>
          </a:xfrm>
          <a:prstGeom prst="line">
            <a:avLst/>
          </a:prstGeom>
          <a:noFill/>
          <a:ln w="19050">
            <a:solidFill>
              <a:srgbClr val="CCD0E7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656064" y="2304288"/>
            <a:ext cx="168249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765792" y="2615184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CC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山  日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C0CC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7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9656064" y="401421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消失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5852160" y="4681728"/>
            <a:ext cx="4507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0.25–2 秒</a:t>
            </a:r>
            <a:endParaRPr lang="en-US" sz="4300" dirty="0"/>
          </a:p>
        </p:txBody>
      </p:sp>
      <p:sp>
        <p:nvSpPr>
          <p:cNvPr id="23" name="Text 18"/>
          <p:cNvSpPr/>
          <p:nvPr/>
        </p:nvSpPr>
        <p:spPr>
          <a:xfrm>
            <a:off x="5888736" y="5422392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约数；不同感觉通道有所不同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没有被注意的信息，很快消失。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bench" descr="/workspace/mobile-lab/experiments/006-memory-factory/assets/backgrounds/background-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记忆三车间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短时记忆：有限的工作台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新信息不断进来，桌面却不会无限变大。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22</a:t>
            </a:r>
            <a:endParaRPr lang="en-US" sz="1100" dirty="0"/>
          </a:p>
        </p:txBody>
      </p:sp>
      <p:pic>
        <p:nvPicPr>
          <p:cNvPr id="10" name="场景插画：short-pod" descr="用于解释记忆与学习的原创扁平矢量场景：short-pod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906" y="2450592"/>
            <a:ext cx="6027725" cy="37673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470648" y="2020824"/>
            <a:ext cx="4041648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知识图标：timer" descr="/workspace/mobile-lab/experiments/006-memory-factory/assets/icons/timer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0" y="2295144"/>
            <a:ext cx="512064" cy="512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81544" y="29260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1秒–1分钟</a:t>
            </a:r>
            <a:endParaRPr lang="en-US" sz="2900" dirty="0"/>
          </a:p>
        </p:txBody>
      </p:sp>
      <p:sp>
        <p:nvSpPr>
          <p:cNvPr id="14" name="Text 8"/>
          <p:cNvSpPr/>
          <p:nvPr/>
        </p:nvSpPr>
        <p:spPr>
          <a:xfrm>
            <a:off x="7781544" y="3767328"/>
            <a:ext cx="3337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7±2</a:t>
            </a:r>
            <a:endParaRPr lang="en-US" sz="4800" dirty="0"/>
          </a:p>
        </p:txBody>
      </p:sp>
      <p:sp>
        <p:nvSpPr>
          <p:cNvPr id="15" name="Text 9"/>
          <p:cNvSpPr/>
          <p:nvPr/>
        </p:nvSpPr>
        <p:spPr>
          <a:xfrm>
            <a:off x="7818120" y="4663440"/>
            <a:ext cx="3310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组块 · 经典估计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818120" y="5166360"/>
            <a:ext cx="3310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容量有限，需要及时加工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2331720" y="3529584"/>
            <a:ext cx="96012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404872" y="353872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493008" y="3529584"/>
            <a:ext cx="96012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566160" y="353872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单词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654296" y="3529584"/>
            <a:ext cx="96012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27448" y="353872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钥匙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629400" y="4050792"/>
            <a:ext cx="256032" cy="941832"/>
          </a:xfrm>
          <a:prstGeom prst="line">
            <a:avLst/>
          </a:prstGeom>
          <a:noFill/>
          <a:ln w="29210">
            <a:solidFill>
              <a:srgbClr val="F39A45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 rot="840000">
            <a:off x="6400800" y="5074920"/>
            <a:ext cx="758952" cy="457200"/>
          </a:xfrm>
          <a:prstGeom prst="roundRect">
            <a:avLst>
              <a:gd name="adj" fmla="val 10000"/>
            </a:avLst>
          </a:prstGeom>
          <a:solidFill>
            <a:srgbClr val="DADDEB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 rot="840000">
            <a:off x="6455664" y="5148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挤出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会复述、能分组，工作台就更好用。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bench" descr="/workspace/mobile-lab/experiments/006-memory-factory/assets/backgrounds/background-1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记忆三车间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组块化：把信息打包得更聪明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相同的10个字母，只改变组织方式。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22376" y="1920240"/>
            <a:ext cx="135331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" y="192938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逐个记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267712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67712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3145536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45536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4023360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023360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</a:t>
            </a:r>
            <a:endParaRPr lang="en-US" sz="2700" dirty="0"/>
          </a:p>
        </p:txBody>
      </p:sp>
      <p:sp>
        <p:nvSpPr>
          <p:cNvPr id="18" name="Shape 14"/>
          <p:cNvSpPr/>
          <p:nvPr/>
        </p:nvSpPr>
        <p:spPr>
          <a:xfrm>
            <a:off x="4901184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01184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</a:t>
            </a:r>
            <a:endParaRPr lang="en-US" sz="2700" dirty="0"/>
          </a:p>
        </p:txBody>
      </p:sp>
      <p:sp>
        <p:nvSpPr>
          <p:cNvPr id="20" name="Shape 16"/>
          <p:cNvSpPr/>
          <p:nvPr/>
        </p:nvSpPr>
        <p:spPr>
          <a:xfrm>
            <a:off x="5779008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79008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</a:t>
            </a:r>
            <a:endParaRPr lang="en-US" sz="2700" dirty="0"/>
          </a:p>
        </p:txBody>
      </p:sp>
      <p:sp>
        <p:nvSpPr>
          <p:cNvPr id="22" name="Shape 18"/>
          <p:cNvSpPr/>
          <p:nvPr/>
        </p:nvSpPr>
        <p:spPr>
          <a:xfrm>
            <a:off x="6656832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56832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2700" dirty="0"/>
          </a:p>
        </p:txBody>
      </p:sp>
      <p:sp>
        <p:nvSpPr>
          <p:cNvPr id="24" name="Shape 20"/>
          <p:cNvSpPr/>
          <p:nvPr/>
        </p:nvSpPr>
        <p:spPr>
          <a:xfrm>
            <a:off x="7534656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34656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2700" dirty="0"/>
          </a:p>
        </p:txBody>
      </p:sp>
      <p:sp>
        <p:nvSpPr>
          <p:cNvPr id="26" name="Shape 22"/>
          <p:cNvSpPr/>
          <p:nvPr/>
        </p:nvSpPr>
        <p:spPr>
          <a:xfrm>
            <a:off x="8412480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12480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</a:t>
            </a:r>
            <a:endParaRPr lang="en-US" sz="2700" dirty="0"/>
          </a:p>
        </p:txBody>
      </p:sp>
      <p:sp>
        <p:nvSpPr>
          <p:cNvPr id="28" name="Shape 24"/>
          <p:cNvSpPr/>
          <p:nvPr/>
        </p:nvSpPr>
        <p:spPr>
          <a:xfrm>
            <a:off x="9290304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290304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</a:t>
            </a:r>
            <a:endParaRPr lang="en-US" sz="2700" dirty="0"/>
          </a:p>
        </p:txBody>
      </p:sp>
      <p:sp>
        <p:nvSpPr>
          <p:cNvPr id="30" name="Shape 26"/>
          <p:cNvSpPr/>
          <p:nvPr/>
        </p:nvSpPr>
        <p:spPr>
          <a:xfrm>
            <a:off x="10168128" y="1938528"/>
            <a:ext cx="6949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CCD0E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168128" y="2048256"/>
            <a:ext cx="694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</a:t>
            </a:r>
            <a:endParaRPr lang="en-US" sz="2700" dirty="0"/>
          </a:p>
        </p:txBody>
      </p:sp>
      <p:sp>
        <p:nvSpPr>
          <p:cNvPr id="32" name="Shape 28"/>
          <p:cNvSpPr/>
          <p:nvPr/>
        </p:nvSpPr>
        <p:spPr>
          <a:xfrm>
            <a:off x="6126480" y="2734056"/>
            <a:ext cx="0" cy="402336"/>
          </a:xfrm>
          <a:prstGeom prst="line">
            <a:avLst/>
          </a:prstGeom>
          <a:noFill/>
          <a:ln w="25400">
            <a:solidFill>
              <a:srgbClr val="7655CE"/>
            </a:solidFill>
            <a:prstDash val="solid"/>
            <a:headEnd type="none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4251960" y="3182112"/>
            <a:ext cx="374904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25112" y="3191256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655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CHUNKING / 组块化</a:t>
            </a:r>
            <a:endParaRPr lang="en-US" sz="2100" dirty="0"/>
          </a:p>
        </p:txBody>
      </p:sp>
      <p:pic>
        <p:nvPicPr>
          <p:cNvPr id="35" name="场景插画：packing" descr="用于解释记忆与学习的原创扁平矢量场景：packi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3611880"/>
            <a:ext cx="10451592" cy="224028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755648" y="4507992"/>
            <a:ext cx="2414016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828800" y="458114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CCTV</a:t>
            </a:r>
            <a:endParaRPr lang="en-US" sz="2800" dirty="0"/>
          </a:p>
        </p:txBody>
      </p:sp>
      <p:sp>
        <p:nvSpPr>
          <p:cNvPr id="38" name="Shape 33"/>
          <p:cNvSpPr/>
          <p:nvPr/>
        </p:nvSpPr>
        <p:spPr>
          <a:xfrm>
            <a:off x="1755648" y="5148072"/>
            <a:ext cx="2414016" cy="356616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755648" y="5166360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电视频道</a:t>
            </a:r>
            <a:endParaRPr lang="en-US" sz="1800" dirty="0"/>
          </a:p>
        </p:txBody>
      </p:sp>
      <p:sp>
        <p:nvSpPr>
          <p:cNvPr id="40" name="Shape 35"/>
          <p:cNvSpPr/>
          <p:nvPr/>
        </p:nvSpPr>
        <p:spPr>
          <a:xfrm>
            <a:off x="4956048" y="4507992"/>
            <a:ext cx="2414016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029200" y="458114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NBA</a:t>
            </a:r>
            <a:endParaRPr lang="en-US" sz="2800" dirty="0"/>
          </a:p>
        </p:txBody>
      </p:sp>
      <p:sp>
        <p:nvSpPr>
          <p:cNvPr id="42" name="Shape 37"/>
          <p:cNvSpPr/>
          <p:nvPr/>
        </p:nvSpPr>
        <p:spPr>
          <a:xfrm>
            <a:off x="4956048" y="5148072"/>
            <a:ext cx="2414016" cy="356616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956048" y="5166360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篮球联赛</a:t>
            </a:r>
            <a:endParaRPr lang="en-US" sz="1800" dirty="0"/>
          </a:p>
        </p:txBody>
      </p:sp>
      <p:sp>
        <p:nvSpPr>
          <p:cNvPr id="44" name="Shape 39"/>
          <p:cNvSpPr/>
          <p:nvPr/>
        </p:nvSpPr>
        <p:spPr>
          <a:xfrm>
            <a:off x="8156448" y="4507992"/>
            <a:ext cx="2414016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458114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UFO</a:t>
            </a:r>
            <a:endParaRPr lang="en-US" sz="2800" dirty="0"/>
          </a:p>
        </p:txBody>
      </p:sp>
      <p:sp>
        <p:nvSpPr>
          <p:cNvPr id="46" name="Shape 41"/>
          <p:cNvSpPr/>
          <p:nvPr/>
        </p:nvSpPr>
        <p:spPr>
          <a:xfrm>
            <a:off x="8156448" y="5148072"/>
            <a:ext cx="2414016" cy="356616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156448" y="5166360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不明飞行物</a:t>
            </a:r>
            <a:endParaRPr lang="en-US" sz="1800" dirty="0"/>
          </a:p>
        </p:txBody>
      </p:sp>
      <p:sp>
        <p:nvSpPr>
          <p:cNvPr id="48" name="Shape 43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不是记住更多，而是把信息打包得更聪明。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ibrary" descr="/workspace/mobile-lab/experiments/006-memory-factory/assets/backgrounds/background-1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记忆三车间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长时记忆：相互连接的知识网络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可以长期保存；理解和组织，为提取提供线索。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22</a:t>
            </a:r>
            <a:endParaRPr lang="en-US" sz="1100" dirty="0"/>
          </a:p>
        </p:txBody>
      </p:sp>
      <p:pic>
        <p:nvPicPr>
          <p:cNvPr id="10" name="场景插画：library" descr="用于解释记忆与学习的原创扁平矢量场景：library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855" y="1956816"/>
            <a:ext cx="6352674" cy="40233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315200" y="2048256"/>
            <a:ext cx="19842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知识图标：book-open" descr="/workspace/mobile-lab/experiments/006-memory-factory/assets/icons/book-open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2360" y="2267712"/>
            <a:ext cx="420624" cy="4206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28432" y="2276856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古诗</a:t>
            </a:r>
            <a:endParaRPr lang="en-US" sz="2000" dirty="0"/>
          </a:p>
        </p:txBody>
      </p:sp>
      <p:sp>
        <p:nvSpPr>
          <p:cNvPr id="14" name="Shape 8"/>
          <p:cNvSpPr/>
          <p:nvPr/>
        </p:nvSpPr>
        <p:spPr>
          <a:xfrm>
            <a:off x="9491472" y="2048256"/>
            <a:ext cx="19842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知识图标：languages" descr="/workspace/mobile-lab/experiments/006-memory-factory/assets/icons/languages-3975D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8632" y="2267712"/>
            <a:ext cx="420624" cy="4206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04704" y="2276856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英语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7315200" y="3154680"/>
            <a:ext cx="19842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知识图标：users" descr="/workspace/mobile-lab/experiments/006-memory-factory/assets/icons/users-3975D7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2360" y="3374136"/>
            <a:ext cx="420624" cy="42062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28432" y="3383280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</a:t>
            </a:r>
            <a:endParaRPr lang="en-US" sz="2000" dirty="0"/>
          </a:p>
        </p:txBody>
      </p:sp>
      <p:sp>
        <p:nvSpPr>
          <p:cNvPr id="20" name="Shape 12"/>
          <p:cNvSpPr/>
          <p:nvPr/>
        </p:nvSpPr>
        <p:spPr>
          <a:xfrm>
            <a:off x="9491472" y="3154680"/>
            <a:ext cx="19842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知识图标：calendar-days" descr="/workspace/mobile-lab/experiments/006-memory-factory/assets/icons/calendar-days-3975D7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28632" y="3374136"/>
            <a:ext cx="420624" cy="4206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04704" y="3383280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</a:t>
            </a:r>
            <a:endParaRPr lang="en-US" sz="2000" dirty="0"/>
          </a:p>
        </p:txBody>
      </p:sp>
      <p:sp>
        <p:nvSpPr>
          <p:cNvPr id="23" name="Shape 14"/>
          <p:cNvSpPr/>
          <p:nvPr/>
        </p:nvSpPr>
        <p:spPr>
          <a:xfrm>
            <a:off x="7315200" y="4261104"/>
            <a:ext cx="19842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知识图标：bike" descr="/workspace/mobile-lab/experiments/006-memory-factory/assets/icons/bike-3975D7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2360" y="4480560"/>
            <a:ext cx="420624" cy="42062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028432" y="4489704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技能</a:t>
            </a:r>
            <a:endParaRPr lang="en-US" sz="2000" dirty="0"/>
          </a:p>
        </p:txBody>
      </p:sp>
      <p:sp>
        <p:nvSpPr>
          <p:cNvPr id="26" name="Shape 16"/>
          <p:cNvSpPr/>
          <p:nvPr/>
        </p:nvSpPr>
        <p:spPr>
          <a:xfrm>
            <a:off x="9491472" y="4261104"/>
            <a:ext cx="19842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知识图标：image" descr="/workspace/mobile-lab/experiments/006-memory-factory/assets/icons/image-3975D7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28632" y="4480560"/>
            <a:ext cx="420624" cy="42062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0204704" y="4489704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生活经历</a:t>
            </a:r>
            <a:endParaRPr lang="en-US" sz="2000" dirty="0"/>
          </a:p>
        </p:txBody>
      </p:sp>
      <p:sp>
        <p:nvSpPr>
          <p:cNvPr id="29" name="Shape 18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容量巨大 · 长期保存 · 意义编码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ab" descr="/workspace/mobile-lab/experiments/006-memory-factory/assets/backgrounds/background-1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理解遗忘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信息为什么没有留下？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先找到信息流失的环节，再选择适合的策略。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39496" y="2542032"/>
            <a:ext cx="950976" cy="239572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72491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</a:t>
            </a:r>
            <a:endParaRPr lang="en-US" sz="2100" dirty="0"/>
          </a:p>
        </p:txBody>
      </p:sp>
      <p:pic>
        <p:nvPicPr>
          <p:cNvPr id="12" name="知识图标：eye" descr="/workspace/mobile-lab/experiments/006-memory-factory/assets/icons/eye-3975D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" y="3575304"/>
            <a:ext cx="310896" cy="310896"/>
          </a:xfrm>
          <a:prstGeom prst="rect">
            <a:avLst/>
          </a:prstGeom>
        </p:spPr>
      </p:pic>
      <p:pic>
        <p:nvPicPr>
          <p:cNvPr id="13" name="知识图标：ear" descr="/workspace/mobile-lab/experiments/006-memory-factory/assets/icons/ear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" y="3959352"/>
            <a:ext cx="310896" cy="310896"/>
          </a:xfrm>
          <a:prstGeom prst="rect">
            <a:avLst/>
          </a:prstGeom>
        </p:spPr>
      </p:pic>
      <p:pic>
        <p:nvPicPr>
          <p:cNvPr id="14" name="知识图标：hand" descr="/workspace/mobile-lab/experiments/006-memory-factory/assets/icons/hand-3975D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" y="4343400"/>
            <a:ext cx="310896" cy="31089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694176"/>
            <a:ext cx="283464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16" name="Shape 9"/>
          <p:cNvSpPr/>
          <p:nvPr/>
        </p:nvSpPr>
        <p:spPr>
          <a:xfrm>
            <a:off x="1828800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911096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感觉记忆</a:t>
            </a:r>
            <a:endParaRPr lang="en-US" sz="2300" dirty="0"/>
          </a:p>
        </p:txBody>
      </p:sp>
      <p:pic>
        <p:nvPicPr>
          <p:cNvPr id="18" name="场景插画：sensory-pod" descr="用于解释记忆与学习的原创扁平矢量场景：sensory-pod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240" y="2682050"/>
            <a:ext cx="2697480" cy="16859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911096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0.25–2 秒</a:t>
            </a:r>
            <a:endParaRPr lang="en-US" sz="2500" dirty="0"/>
          </a:p>
        </p:txBody>
      </p:sp>
      <p:sp>
        <p:nvSpPr>
          <p:cNvPr id="20" name="Text 12"/>
          <p:cNvSpPr/>
          <p:nvPr/>
        </p:nvSpPr>
        <p:spPr>
          <a:xfrm>
            <a:off x="1911096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瞬间快照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3264408" y="5266944"/>
            <a:ext cx="0" cy="265176"/>
          </a:xfrm>
          <a:prstGeom prst="line">
            <a:avLst/>
          </a:prstGeom>
          <a:noFill/>
          <a:ln w="22860">
            <a:solidFill>
              <a:srgbClr val="F39A45"/>
            </a:solidFill>
            <a:prstDash val="solid"/>
            <a:headEnd type="none"/>
            <a:tailEnd type="triangle"/>
          </a:ln>
        </p:spPr>
      </p:sp>
      <p:sp>
        <p:nvSpPr>
          <p:cNvPr id="22" name="Shape 14"/>
          <p:cNvSpPr/>
          <p:nvPr/>
        </p:nvSpPr>
        <p:spPr>
          <a:xfrm>
            <a:off x="1975104" y="558698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048256" y="55961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没注意 → 遗忘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4736592" y="3721608"/>
            <a:ext cx="356616" cy="0"/>
          </a:xfrm>
          <a:prstGeom prst="line">
            <a:avLst/>
          </a:prstGeom>
          <a:noFill/>
          <a:ln w="2794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25" name="Shape 17"/>
          <p:cNvSpPr/>
          <p:nvPr/>
        </p:nvSpPr>
        <p:spPr>
          <a:xfrm>
            <a:off x="5138928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221224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短时记忆</a:t>
            </a:r>
            <a:endParaRPr lang="en-US" sz="2300" dirty="0"/>
          </a:p>
        </p:txBody>
      </p:sp>
      <p:pic>
        <p:nvPicPr>
          <p:cNvPr id="27" name="场景插画：short-pod" descr="用于解释记忆与学习的原创扁平矢量场景：short-pod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0368" y="2682050"/>
            <a:ext cx="2697480" cy="16859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21224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1秒–1分钟</a:t>
            </a:r>
            <a:endParaRPr lang="en-US" sz="2500" dirty="0"/>
          </a:p>
        </p:txBody>
      </p:sp>
      <p:sp>
        <p:nvSpPr>
          <p:cNvPr id="29" name="Text 20"/>
          <p:cNvSpPr/>
          <p:nvPr/>
        </p:nvSpPr>
        <p:spPr>
          <a:xfrm>
            <a:off x="5221224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经典估计 7±2 组块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6574536" y="5266944"/>
            <a:ext cx="0" cy="265176"/>
          </a:xfrm>
          <a:prstGeom prst="line">
            <a:avLst/>
          </a:prstGeom>
          <a:noFill/>
          <a:ln w="22860">
            <a:solidFill>
              <a:srgbClr val="F39A45"/>
            </a:solidFill>
            <a:prstDash val="solid"/>
            <a:headEnd type="none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5285232" y="558698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358384" y="55961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没加工 → 遗忘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046720" y="3721608"/>
            <a:ext cx="356616" cy="0"/>
          </a:xfrm>
          <a:prstGeom prst="line">
            <a:avLst/>
          </a:prstGeom>
          <a:noFill/>
          <a:ln w="2794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8449056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8531352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长时记忆</a:t>
            </a:r>
            <a:endParaRPr lang="en-US" sz="2300" dirty="0"/>
          </a:p>
        </p:txBody>
      </p:sp>
      <p:pic>
        <p:nvPicPr>
          <p:cNvPr id="36" name="场景插画：long-pod" descr="用于解释记忆与学习的原创扁平矢量场景：long-pod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0496" y="2682050"/>
            <a:ext cx="2697480" cy="168592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531352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长期保存</a:t>
            </a:r>
            <a:endParaRPr lang="en-US" sz="2500" dirty="0"/>
          </a:p>
        </p:txBody>
      </p:sp>
      <p:sp>
        <p:nvSpPr>
          <p:cNvPr id="38" name="Text 28"/>
          <p:cNvSpPr/>
          <p:nvPr/>
        </p:nvSpPr>
        <p:spPr>
          <a:xfrm>
            <a:off x="8531352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容量巨大 · 意义编码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9884664" y="5266944"/>
            <a:ext cx="0" cy="265176"/>
          </a:xfrm>
          <a:prstGeom prst="line">
            <a:avLst/>
          </a:prstGeom>
          <a:noFill/>
          <a:ln w="22860">
            <a:solidFill>
              <a:srgbClr val="F39A45"/>
            </a:solidFill>
            <a:prstDash val="solid"/>
            <a:headEnd type="none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8595360" y="558698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8668512" y="55961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少提取 → 模糊</a:t>
            </a:r>
            <a:endParaRPr lang="en-US" sz="1800" dirty="0"/>
          </a:p>
        </p:txBody>
      </p:sp>
      <p:sp>
        <p:nvSpPr>
          <p:cNvPr id="42" name="Shape 32"/>
          <p:cNvSpPr/>
          <p:nvPr/>
        </p:nvSpPr>
        <p:spPr>
          <a:xfrm>
            <a:off x="4507992" y="2697480"/>
            <a:ext cx="896112" cy="393192"/>
          </a:xfrm>
          <a:prstGeom prst="roundRect">
            <a:avLst>
              <a:gd name="adj" fmla="val 2790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581144" y="2706624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</a:t>
            </a:r>
            <a:endParaRPr lang="en-US" sz="1700" dirty="0"/>
          </a:p>
        </p:txBody>
      </p:sp>
      <p:sp>
        <p:nvSpPr>
          <p:cNvPr id="44" name="Shape 34"/>
          <p:cNvSpPr/>
          <p:nvPr/>
        </p:nvSpPr>
        <p:spPr>
          <a:xfrm>
            <a:off x="7342632" y="2697480"/>
            <a:ext cx="1618488" cy="393192"/>
          </a:xfrm>
          <a:prstGeom prst="roundRect">
            <a:avLst>
              <a:gd name="adj" fmla="val 27907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415784" y="270662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复述 / 理解</a:t>
            </a:r>
            <a:endParaRPr lang="en-US" sz="1700" dirty="0"/>
          </a:p>
        </p:txBody>
      </p:sp>
      <p:sp>
        <p:nvSpPr>
          <p:cNvPr id="46" name="Text 36"/>
          <p:cNvSpPr/>
          <p:nvPr/>
        </p:nvSpPr>
        <p:spPr>
          <a:xfrm>
            <a:off x="1051560" y="6144768"/>
            <a:ext cx="10058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没听进去？没弄懂？还是后来很少再尝试想起来？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study" descr="/workspace/mobile-lab/experiments/006-memory-factory/assets/backgrounds/background-1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记忆升级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艾宾浩斯遗忘曲线：先快后慢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及时复习，让记忆保持的曲线重新抬高。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4360" y="1947672"/>
            <a:ext cx="6949440" cy="3831336"/>
          </a:xfrm>
          <a:prstGeom prst="roundRect">
            <a:avLst>
              <a:gd name="adj" fmla="val 2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1" name="Chart 0" descr="遗忘先快后慢，间隔复习使保持程度重新升高。示意数据及非等比例时间轴。"/>
          <p:cNvGraphicFramePr/>
          <p:nvPr/>
        </p:nvGraphicFramePr>
        <p:xfrm>
          <a:off x="685800" y="2487168"/>
          <a:ext cx="6629400" cy="2889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822960" y="2066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记忆保持（示意）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251960" y="2231136"/>
            <a:ext cx="292608" cy="0"/>
          </a:xfrm>
          <a:prstGeom prst="line">
            <a:avLst/>
          </a:prstGeom>
          <a:noFill/>
          <a:ln w="38100">
            <a:solidFill>
              <a:srgbClr val="62647B"/>
            </a:solidFill>
            <a:prstDash val="solid"/>
            <a:headEnd type="none"/>
            <a:tailEnd type="none"/>
          </a:ln>
        </p:spPr>
      </p:sp>
      <p:sp>
        <p:nvSpPr>
          <p:cNvPr id="14" name="Text 9"/>
          <p:cNvSpPr/>
          <p:nvPr/>
        </p:nvSpPr>
        <p:spPr>
          <a:xfrm>
            <a:off x="4663440" y="20756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未复习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806440" y="2231136"/>
            <a:ext cx="292608" cy="0"/>
          </a:xfrm>
          <a:prstGeom prst="line">
            <a:avLst/>
          </a:prstGeom>
          <a:noFill/>
          <a:ln w="381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16" name="Text 11"/>
          <p:cNvSpPr/>
          <p:nvPr/>
        </p:nvSpPr>
        <p:spPr>
          <a:xfrm>
            <a:off x="6208776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复习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51560" y="5413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学后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01952" y="5413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当天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337560" y="5413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第2天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513832" y="5413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第7天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565392" y="5413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更久</a:t>
            </a:r>
            <a:endParaRPr lang="en-US" sz="1600" dirty="0"/>
          </a:p>
        </p:txBody>
      </p:sp>
      <p:pic>
        <p:nvPicPr>
          <p:cNvPr id="22" name="场景插画：review" descr="用于解释记忆与学习的原创扁平矢量场景：review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1272" y="2023262"/>
            <a:ext cx="3602736" cy="3122371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845552" y="5376672"/>
            <a:ext cx="1133856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918704" y="538581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当天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9079992" y="5376672"/>
            <a:ext cx="1133856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153144" y="538581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第2天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10314432" y="5376672"/>
            <a:ext cx="1133856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387584" y="538581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第7天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不要等忘光了，再从头学一次。</a:t>
            </a:r>
            <a:endParaRPr lang="en-US" sz="2100" dirty="0"/>
          </a:p>
        </p:txBody>
      </p:sp>
      <p:sp>
        <p:nvSpPr>
          <p:cNvPr id="31" name="Text 25"/>
          <p:cNvSpPr/>
          <p:nvPr/>
        </p:nvSpPr>
        <p:spPr>
          <a:xfrm>
            <a:off x="786384" y="5705856"/>
            <a:ext cx="6611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教学示意，时间轴非等比例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study" descr="/workspace/mobile-lab/experiments/006-memory-factory/assets/backgrounds/background-1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记忆升级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主动输出：试着把它讲明白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费曼学习法 · 说、写、用，找到理解中卡住的地方。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22</a:t>
            </a:r>
            <a:endParaRPr lang="en-US" sz="1100" dirty="0"/>
          </a:p>
        </p:txBody>
      </p:sp>
      <p:pic>
        <p:nvPicPr>
          <p:cNvPr id="10" name="场景插画：teach" descr="用于解释记忆与学习的原创扁平矢量场景：teach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208" y="2193819"/>
            <a:ext cx="4901184" cy="331161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452360" y="2642616"/>
            <a:ext cx="201168" cy="0"/>
          </a:xfrm>
          <a:prstGeom prst="line">
            <a:avLst/>
          </a:prstGeom>
          <a:noFill/>
          <a:ln w="2286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2" name="Shape 7"/>
          <p:cNvSpPr/>
          <p:nvPr/>
        </p:nvSpPr>
        <p:spPr>
          <a:xfrm>
            <a:off x="9509760" y="2642616"/>
            <a:ext cx="201168" cy="0"/>
          </a:xfrm>
          <a:prstGeom prst="line">
            <a:avLst/>
          </a:prstGeom>
          <a:noFill/>
          <a:ln w="2286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10661904" y="3300984"/>
            <a:ext cx="0" cy="612648"/>
          </a:xfrm>
          <a:prstGeom prst="line">
            <a:avLst/>
          </a:prstGeom>
          <a:noFill/>
          <a:ln w="2286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4" name="Shape 9"/>
          <p:cNvSpPr/>
          <p:nvPr/>
        </p:nvSpPr>
        <p:spPr>
          <a:xfrm flipH="1">
            <a:off x="9509760" y="4590288"/>
            <a:ext cx="201168" cy="0"/>
          </a:xfrm>
          <a:prstGeom prst="line">
            <a:avLst/>
          </a:prstGeom>
          <a:noFill/>
          <a:ln w="2286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5" name="Shape 10"/>
          <p:cNvSpPr/>
          <p:nvPr/>
        </p:nvSpPr>
        <p:spPr>
          <a:xfrm flipH="1">
            <a:off x="7452360" y="4590288"/>
            <a:ext cx="201168" cy="0"/>
          </a:xfrm>
          <a:prstGeom prst="line">
            <a:avLst/>
          </a:prstGeom>
          <a:noFill/>
          <a:ln w="2286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 flipV="1">
            <a:off x="6547104" y="3300984"/>
            <a:ext cx="0" cy="612648"/>
          </a:xfrm>
          <a:prstGeom prst="line">
            <a:avLst/>
          </a:prstGeom>
          <a:noFill/>
          <a:ln w="2286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650992" y="2029968"/>
            <a:ext cx="1792224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知识图标：book-open" descr="/workspace/mobile-lab/experiments/006-memory-factory/assets/icons/book-open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8504" y="218541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96712" y="28254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7708392" y="2029968"/>
            <a:ext cx="1792224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知识图标：book-x" descr="/workspace/mobile-lab/experiments/006-memory-factory/assets/icons/book-x-3975D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5904" y="2185416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54112" y="28254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合上书</a:t>
            </a:r>
            <a:endParaRPr lang="en-US" sz="1900" dirty="0"/>
          </a:p>
        </p:txBody>
      </p:sp>
      <p:sp>
        <p:nvSpPr>
          <p:cNvPr id="23" name="Shape 16"/>
          <p:cNvSpPr/>
          <p:nvPr/>
        </p:nvSpPr>
        <p:spPr>
          <a:xfrm>
            <a:off x="9765792" y="2029968"/>
            <a:ext cx="1792224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知识图标：message-circle" descr="/workspace/mobile-lab/experiments/006-memory-factory/assets/icons/message-circle-3975D7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3304" y="2185416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11512" y="28254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讲出来</a:t>
            </a:r>
            <a:endParaRPr lang="en-US" sz="1900" dirty="0"/>
          </a:p>
        </p:txBody>
      </p:sp>
      <p:sp>
        <p:nvSpPr>
          <p:cNvPr id="26" name="Shape 18"/>
          <p:cNvSpPr/>
          <p:nvPr/>
        </p:nvSpPr>
        <p:spPr>
          <a:xfrm>
            <a:off x="9765792" y="3977640"/>
            <a:ext cx="1792224" cy="1216152"/>
          </a:xfrm>
          <a:prstGeom prst="roundRect">
            <a:avLst>
              <a:gd name="adj" fmla="val 9023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pic>
        <p:nvPicPr>
          <p:cNvPr id="27" name="知识图标：circle-help" descr="/workspace/mobile-lab/experiments/006-memory-factory/assets/icons/circle-help-F39A45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33304" y="4133088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811512" y="47731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发现卡住</a:t>
            </a:r>
            <a:endParaRPr lang="en-US" sz="1900" dirty="0"/>
          </a:p>
        </p:txBody>
      </p:sp>
      <p:sp>
        <p:nvSpPr>
          <p:cNvPr id="29" name="Shape 20"/>
          <p:cNvSpPr/>
          <p:nvPr/>
        </p:nvSpPr>
        <p:spPr>
          <a:xfrm>
            <a:off x="7708392" y="3977640"/>
            <a:ext cx="1792224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知识图标：search" descr="/workspace/mobile-lab/experiments/006-memory-factory/assets/icons/search-3975D7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75904" y="4133088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754112" y="47731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回去检查</a:t>
            </a:r>
            <a:endParaRPr lang="en-US" sz="1900" dirty="0"/>
          </a:p>
        </p:txBody>
      </p:sp>
      <p:sp>
        <p:nvSpPr>
          <p:cNvPr id="32" name="Shape 22"/>
          <p:cNvSpPr/>
          <p:nvPr/>
        </p:nvSpPr>
        <p:spPr>
          <a:xfrm>
            <a:off x="5650992" y="3977640"/>
            <a:ext cx="1792224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知识图标：refresh-cw" descr="/workspace/mobile-lab/experiments/006-memory-factory/assets/icons/refresh-cw-3975D7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18504" y="4133088"/>
            <a:ext cx="457200" cy="4572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696712" y="47731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再次表达</a:t>
            </a:r>
            <a:endParaRPr lang="en-US" sz="1900" dirty="0"/>
          </a:p>
        </p:txBody>
      </p:sp>
      <p:sp>
        <p:nvSpPr>
          <p:cNvPr id="35" name="Text 24"/>
          <p:cNvSpPr/>
          <p:nvPr/>
        </p:nvSpPr>
        <p:spPr>
          <a:xfrm>
            <a:off x="6217920" y="3456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用自己的话</a:t>
            </a:r>
            <a:endParaRPr lang="en-US" sz="2100" dirty="0"/>
          </a:p>
        </p:txBody>
      </p:sp>
      <p:sp>
        <p:nvSpPr>
          <p:cNvPr id="36" name="Shape 25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英语：造句  ·  历史：讲因果  ·  数学：解释每一步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memory" descr="/workspace/mobile-lab/experiments/006-memory-factory/assets/backgrounds/background-1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记忆升级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情绪，让某些记忆更鲜明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小目标、小奖励与成就感，可以帮助我们投入学习。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22</a:t>
            </a:r>
            <a:endParaRPr lang="en-US" sz="1100" dirty="0"/>
          </a:p>
        </p:txBody>
      </p:sp>
      <p:pic>
        <p:nvPicPr>
          <p:cNvPr id="10" name="场景插画：ordinary" descr="用于解释记忆与学习的原创扁平矢量场景：ordinary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" y="2125066"/>
            <a:ext cx="3904488" cy="2342693"/>
          </a:xfrm>
          <a:prstGeom prst="rect">
            <a:avLst/>
          </a:prstGeom>
        </p:spPr>
      </p:pic>
      <p:pic>
        <p:nvPicPr>
          <p:cNvPr id="11" name="场景插画：achievement" descr="用于解释记忆与学习的原创扁平矢量场景：achievemen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6640" y="2103120"/>
            <a:ext cx="3977640" cy="238658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14400" y="1874520"/>
            <a:ext cx="333756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87552" y="188366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普通的一天</a:t>
            </a:r>
            <a:endParaRPr lang="en-US" sz="2100" dirty="0"/>
          </a:p>
        </p:txBody>
      </p:sp>
      <p:sp>
        <p:nvSpPr>
          <p:cNvPr id="14" name="Shape 8"/>
          <p:cNvSpPr/>
          <p:nvPr/>
        </p:nvSpPr>
        <p:spPr>
          <a:xfrm>
            <a:off x="7552944" y="1874520"/>
            <a:ext cx="368503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626096" y="1883664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第一次被全班鼓掌</a:t>
            </a:r>
            <a:endParaRPr lang="en-US" sz="2100" dirty="0"/>
          </a:p>
        </p:txBody>
      </p:sp>
      <p:sp>
        <p:nvSpPr>
          <p:cNvPr id="16" name="Shape 10"/>
          <p:cNvSpPr/>
          <p:nvPr/>
        </p:nvSpPr>
        <p:spPr>
          <a:xfrm>
            <a:off x="4791456" y="2267712"/>
            <a:ext cx="2221992" cy="2185416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杏仁核位置示意" descr="/workspace/mobile-lab/experiments/006-memory-factory/assets/illustrations/brain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6904" y="2505456"/>
            <a:ext cx="1938528" cy="145389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975604" y="3351276"/>
            <a:ext cx="155448" cy="155448"/>
          </a:xfrm>
          <a:prstGeom prst="ellipse">
            <a:avLst/>
          </a:prstGeom>
          <a:solidFill>
            <a:srgbClr val="F39A45"/>
          </a:solidFill>
          <a:ln w="12700">
            <a:solidFill>
              <a:srgbClr val="F39A45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956048" y="387705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杏仁核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4901184" y="4251960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位置为简化示意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786384" y="4690872"/>
            <a:ext cx="478231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59536" y="47000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更鲜明 ≠ 更准确</a:t>
            </a:r>
            <a:endParaRPr lang="en-US" sz="2300" dirty="0"/>
          </a:p>
        </p:txBody>
      </p:sp>
      <p:sp>
        <p:nvSpPr>
          <p:cNvPr id="23" name="Shape 16"/>
          <p:cNvSpPr/>
          <p:nvPr/>
        </p:nvSpPr>
        <p:spPr>
          <a:xfrm>
            <a:off x="5934456" y="4690872"/>
            <a:ext cx="54864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007608" y="4700016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压力过大，也会妨碍回忆</a:t>
            </a:r>
            <a:endParaRPr lang="en-US" sz="2100" dirty="0"/>
          </a:p>
        </p:txBody>
      </p:sp>
      <p:pic>
        <p:nvPicPr>
          <p:cNvPr id="25" name="场景插画：safety" descr="用于解释记忆与学习的原创扁平矢量场景：safety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104" y="5266944"/>
            <a:ext cx="1975104" cy="6583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3026664" y="5276088"/>
            <a:ext cx="8330184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209544" y="5385816"/>
            <a:ext cx="7964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简单了解：安全相关信息可能更容易获得注意。</a:t>
            </a:r>
            <a:endParaRPr lang="en-US" sz="1900" dirty="0"/>
          </a:p>
        </p:txBody>
      </p:sp>
      <p:sp>
        <p:nvSpPr>
          <p:cNvPr id="28" name="Shape 20"/>
          <p:cNvSpPr/>
          <p:nvPr/>
        </p:nvSpPr>
        <p:spPr>
          <a:xfrm>
            <a:off x="530352" y="5961888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1520" y="5993892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给自己一个小目标，让学习多一点参与感与成就感。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ibrary" descr="/workspace/mobile-lab/experiments/006-memory-factory/assets/backgrounds/background-17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记忆升级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好奇心：带着问题学习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给阅读一个明确的寻找方向。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22</a:t>
            </a:r>
            <a:endParaRPr lang="en-US" sz="1100" dirty="0"/>
          </a:p>
        </p:txBody>
      </p:sp>
      <p:pic>
        <p:nvPicPr>
          <p:cNvPr id="10" name="场景插画：curiosity" descr="用于解释记忆与学习的原创扁平矢量场景：curiosity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2169011"/>
            <a:ext cx="4297680" cy="316005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166360" y="2011680"/>
            <a:ext cx="18288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239512" y="202082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机械通读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157216" y="2688336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212080" y="2743200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打开书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606540" y="3104388"/>
            <a:ext cx="173736" cy="0"/>
          </a:xfrm>
          <a:prstGeom prst="line">
            <a:avLst/>
          </a:prstGeom>
          <a:noFill/>
          <a:ln w="2032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812280" y="2688336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67144" y="2743200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看一遍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8261604" y="3104388"/>
            <a:ext cx="173736" cy="0"/>
          </a:xfrm>
          <a:prstGeom prst="line">
            <a:avLst/>
          </a:prstGeom>
          <a:noFill/>
          <a:ln w="2032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467344" y="2688336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22208" y="2743200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再看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9916668" y="3104388"/>
            <a:ext cx="173736" cy="0"/>
          </a:xfrm>
          <a:prstGeom prst="line">
            <a:avLst/>
          </a:prstGeom>
          <a:noFill/>
          <a:ln w="2032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10122408" y="2688336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177272" y="2743200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忘记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5166360" y="3767328"/>
            <a:ext cx="182880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39512" y="377647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先带问题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157216" y="4462272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212080" y="4517136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提出问题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606540" y="4878324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812280" y="4462272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67144" y="4517136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寻找答案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8261604" y="4878324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8467344" y="4462272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522208" y="4517136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产生连接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9916668" y="4878324"/>
            <a:ext cx="173736" cy="0"/>
          </a:xfrm>
          <a:prstGeom prst="line">
            <a:avLst/>
          </a:prstGeom>
          <a:noFill/>
          <a:ln w="20320">
            <a:solidFill>
              <a:srgbClr val="36369B"/>
            </a:solidFill>
            <a:prstDash val="solid"/>
            <a:headEnd type="none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10122408" y="4462272"/>
            <a:ext cx="14173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0177272" y="4517136"/>
            <a:ext cx="13075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理解表达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试着问：为什么北半球夏天白天更长？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ibrary" descr="/workspace/mobile-lab/experiments/006-memory-factory/assets/backgrounds/background-1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记忆升级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记忆升级地图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四条路径，一起帮助重要的信息留下来。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" y="1956816"/>
            <a:ext cx="3328416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场景插画：review-mini" descr="用于解释记忆与学习的原创扁平矢量场景：review-mini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735" y="2395728"/>
            <a:ext cx="1345474" cy="9418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86000" y="2231136"/>
            <a:ext cx="1490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重复复习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777240" y="3410712"/>
            <a:ext cx="2990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隔一段时间，再提取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8229600" y="1956816"/>
            <a:ext cx="3328416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场景插画：teach-mini" descr="用于解释记忆与学习的原创扁平矢量场景：teach-mini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4687" y="2395728"/>
            <a:ext cx="1345474" cy="9418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902952" y="2231136"/>
            <a:ext cx="1490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主动输出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8394192" y="3410712"/>
            <a:ext cx="2990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合上书，用自己的话说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12648" y="3931920"/>
            <a:ext cx="3328416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场景插画：reward-mini" descr="用于解释记忆与学习的原创扁平矢量场景：reward-mini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735" y="4370832"/>
            <a:ext cx="1345474" cy="9418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286000" y="4206240"/>
            <a:ext cx="1490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情绪参与</a:t>
            </a:r>
            <a:endParaRPr lang="en-US" sz="2100" dirty="0"/>
          </a:p>
        </p:txBody>
      </p:sp>
      <p:sp>
        <p:nvSpPr>
          <p:cNvPr id="21" name="Text 14"/>
          <p:cNvSpPr/>
          <p:nvPr/>
        </p:nvSpPr>
        <p:spPr>
          <a:xfrm>
            <a:off x="777240" y="5385816"/>
            <a:ext cx="2990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寻找兴趣与成就感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8229600" y="3931920"/>
            <a:ext cx="3328416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场景插画：ask-mini" descr="用于解释记忆与学习的原创扁平矢量场景：ask-mini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34687" y="4370832"/>
            <a:ext cx="1345474" cy="9418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902952" y="4206240"/>
            <a:ext cx="1490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主动提问</a:t>
            </a:r>
            <a:endParaRPr lang="en-US" sz="2100" dirty="0"/>
          </a:p>
        </p:txBody>
      </p:sp>
      <p:sp>
        <p:nvSpPr>
          <p:cNvPr id="25" name="Text 17"/>
          <p:cNvSpPr/>
          <p:nvPr/>
        </p:nvSpPr>
        <p:spPr>
          <a:xfrm>
            <a:off x="8394192" y="5385816"/>
            <a:ext cx="2990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先问为什么，再找联系</a:t>
            </a:r>
            <a:endParaRPr lang="en-US" sz="1700" dirty="0"/>
          </a:p>
        </p:txBody>
      </p:sp>
      <p:pic>
        <p:nvPicPr>
          <p:cNvPr id="26" name="场景插画：long-pod" descr="用于解释记忆与学习的原创扁平矢量场景：long-pod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62856" y="2832926"/>
            <a:ext cx="3063240" cy="191452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242816" y="4892040"/>
            <a:ext cx="3703320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315968" y="4901184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LONG-TERM MEMORY</a:t>
            </a:r>
            <a:endParaRPr lang="en-US" sz="1800" dirty="0"/>
          </a:p>
        </p:txBody>
      </p:sp>
      <p:sp>
        <p:nvSpPr>
          <p:cNvPr id="29" name="Shape 20"/>
          <p:cNvSpPr/>
          <p:nvPr/>
        </p:nvSpPr>
        <p:spPr>
          <a:xfrm>
            <a:off x="3977640" y="2798064"/>
            <a:ext cx="292608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0" name="Shape 21"/>
          <p:cNvSpPr/>
          <p:nvPr/>
        </p:nvSpPr>
        <p:spPr>
          <a:xfrm>
            <a:off x="4270248" y="2798064"/>
            <a:ext cx="0" cy="54864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1" name="Shape 22"/>
          <p:cNvSpPr/>
          <p:nvPr/>
        </p:nvSpPr>
        <p:spPr>
          <a:xfrm>
            <a:off x="4270248" y="3346704"/>
            <a:ext cx="265176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2" name="Shape 23"/>
          <p:cNvSpPr/>
          <p:nvPr/>
        </p:nvSpPr>
        <p:spPr>
          <a:xfrm flipH="1">
            <a:off x="7891272" y="2798064"/>
            <a:ext cx="301752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3" name="Shape 24"/>
          <p:cNvSpPr/>
          <p:nvPr/>
        </p:nvSpPr>
        <p:spPr>
          <a:xfrm>
            <a:off x="7891272" y="2798064"/>
            <a:ext cx="0" cy="54864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4" name="Shape 25"/>
          <p:cNvSpPr/>
          <p:nvPr/>
        </p:nvSpPr>
        <p:spPr>
          <a:xfrm flipH="1">
            <a:off x="7653528" y="3346704"/>
            <a:ext cx="237744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3977640" y="4791456"/>
            <a:ext cx="292608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6" name="Shape 27"/>
          <p:cNvSpPr/>
          <p:nvPr/>
        </p:nvSpPr>
        <p:spPr>
          <a:xfrm flipV="1">
            <a:off x="4270248" y="4215384"/>
            <a:ext cx="0" cy="576072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7" name="Shape 28"/>
          <p:cNvSpPr/>
          <p:nvPr/>
        </p:nvSpPr>
        <p:spPr>
          <a:xfrm>
            <a:off x="4270248" y="4215384"/>
            <a:ext cx="265176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8" name="Shape 29"/>
          <p:cNvSpPr/>
          <p:nvPr/>
        </p:nvSpPr>
        <p:spPr>
          <a:xfrm flipH="1">
            <a:off x="7891272" y="4791456"/>
            <a:ext cx="301752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39" name="Shape 30"/>
          <p:cNvSpPr/>
          <p:nvPr/>
        </p:nvSpPr>
        <p:spPr>
          <a:xfrm flipV="1">
            <a:off x="7891272" y="4215384"/>
            <a:ext cx="0" cy="576072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none"/>
          </a:ln>
        </p:spPr>
      </p:sp>
      <p:sp>
        <p:nvSpPr>
          <p:cNvPr id="40" name="Shape 31"/>
          <p:cNvSpPr/>
          <p:nvPr/>
        </p:nvSpPr>
        <p:spPr>
          <a:xfrm flipH="1">
            <a:off x="7653528" y="4215384"/>
            <a:ext cx="237744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注意输入 → 理解加工 → 多次把重要的信息想起来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classroom" descr="/workspace/mobile-lab/experiments/006-memory-factory/assets/backgrounds/background-1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小组活动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我的记忆困扰墙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4人一组，写下一个具体的困扰；本页讨论3分钟。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22</a:t>
            </a:r>
            <a:endParaRPr lang="en-US" sz="1100" dirty="0"/>
          </a:p>
        </p:txBody>
      </p:sp>
      <p:pic>
        <p:nvPicPr>
          <p:cNvPr id="10" name="场景插画：discussion" descr="用于解释记忆与学习的原创扁平矢量场景：discussi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95693"/>
            <a:ext cx="4306824" cy="294677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56632" y="1993392"/>
            <a:ext cx="299923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212080" y="1993392"/>
            <a:ext cx="420624" cy="50292"/>
          </a:xfrm>
          <a:prstGeom prst="rect">
            <a:avLst/>
          </a:prstGeom>
          <a:solidFill>
            <a:srgbClr val="7655CE"/>
          </a:solidFill>
          <a:ln w="12700">
            <a:solidFill>
              <a:srgbClr val="7655C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30368" y="2167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背了就忘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5230368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古诗隔天只剩开头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348472" y="1993392"/>
            <a:ext cx="299923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503920" y="1993392"/>
            <a:ext cx="420624" cy="50292"/>
          </a:xfrm>
          <a:prstGeom prst="rect">
            <a:avLst/>
          </a:prstGeom>
          <a:solidFill>
            <a:srgbClr val="3975D7"/>
          </a:solidFill>
          <a:ln w="12700">
            <a:solidFill>
              <a:srgbClr val="3975D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522208" y="2167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考试突然空白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522208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走出考场又想起来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056632" y="3154680"/>
            <a:ext cx="299923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12080" y="3154680"/>
            <a:ext cx="420624" cy="50292"/>
          </a:xfrm>
          <a:prstGeom prst="rect">
            <a:avLst/>
          </a:prstGeom>
          <a:solidFill>
            <a:srgbClr val="7655CE"/>
          </a:solidFill>
          <a:ln w="12700">
            <a:solidFill>
              <a:srgbClr val="7655C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230368" y="3328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单词记不住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5230368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合上书就说不出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348472" y="3154680"/>
            <a:ext cx="299923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03920" y="3154680"/>
            <a:ext cx="420624" cy="50292"/>
          </a:xfrm>
          <a:prstGeom prst="rect">
            <a:avLst/>
          </a:prstGeom>
          <a:solidFill>
            <a:srgbClr val="3975D7"/>
          </a:solidFill>
          <a:ln w="12700">
            <a:solidFill>
              <a:srgbClr val="3975D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22208" y="3328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公式混淆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8522208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做题时选错公式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056632" y="4315968"/>
            <a:ext cx="299923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212080" y="4315968"/>
            <a:ext cx="420624" cy="50292"/>
          </a:xfrm>
          <a:prstGeom prst="rect">
            <a:avLst/>
          </a:prstGeom>
          <a:solidFill>
            <a:srgbClr val="7655CE"/>
          </a:solidFill>
          <a:ln w="12700">
            <a:solidFill>
              <a:srgbClr val="7655C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230368" y="44897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古诗背串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5230368" y="4965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和另一首混在一起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348472" y="4315968"/>
            <a:ext cx="299923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503920" y="4315968"/>
            <a:ext cx="420624" cy="50292"/>
          </a:xfrm>
          <a:prstGeom prst="rect">
            <a:avLst/>
          </a:prstGeom>
          <a:solidFill>
            <a:srgbClr val="3975D7"/>
          </a:solidFill>
          <a:ln w="12700">
            <a:solidFill>
              <a:srgbClr val="3975D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522208" y="44897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知道却说不出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8522208" y="4965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答案就在嘴边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我的情境：在 __________ 的时候，我常常 __________。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study" descr="/workspace/mobile-lab/experiments/006-memory-factory/assets/backgrounds/background-2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小组活动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我的记忆升级计划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继续讨论3分钟，再邀请2–3组分享3分钟。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22</a:t>
            </a:r>
            <a:endParaRPr lang="en-US" sz="1100" dirty="0"/>
          </a:p>
        </p:txBody>
      </p:sp>
      <p:pic>
        <p:nvPicPr>
          <p:cNvPr id="10" name="场景插画：plan" descr="用于解释记忆与学习的原创扁平矢量场景：pla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696153"/>
            <a:ext cx="3383280" cy="289215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087368" y="1947672"/>
            <a:ext cx="7415784" cy="381304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763256" y="2157984"/>
            <a:ext cx="0" cy="3364992"/>
          </a:xfrm>
          <a:prstGeom prst="line">
            <a:avLst/>
          </a:prstGeom>
          <a:noFill/>
          <a:ln w="1524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13" name="Text 8"/>
          <p:cNvSpPr/>
          <p:nvPr/>
        </p:nvSpPr>
        <p:spPr>
          <a:xfrm>
            <a:off x="4325112" y="219456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我的困扰</a:t>
            </a:r>
            <a:endParaRPr lang="en-US" sz="2300" dirty="0"/>
          </a:p>
        </p:txBody>
      </p:sp>
      <p:sp>
        <p:nvSpPr>
          <p:cNvPr id="14" name="Shape 9"/>
          <p:cNvSpPr/>
          <p:nvPr/>
        </p:nvSpPr>
        <p:spPr>
          <a:xfrm>
            <a:off x="4343400" y="3099816"/>
            <a:ext cx="3145536" cy="0"/>
          </a:xfrm>
          <a:prstGeom prst="line">
            <a:avLst/>
          </a:prstGeom>
          <a:noFill/>
          <a:ln w="1524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15" name="Text 10"/>
          <p:cNvSpPr/>
          <p:nvPr/>
        </p:nvSpPr>
        <p:spPr>
          <a:xfrm>
            <a:off x="4325112" y="35112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应用在哪门学科</a:t>
            </a:r>
            <a:endParaRPr lang="en-US" sz="2300" dirty="0"/>
          </a:p>
        </p:txBody>
      </p:sp>
      <p:sp>
        <p:nvSpPr>
          <p:cNvPr id="16" name="Shape 11"/>
          <p:cNvSpPr/>
          <p:nvPr/>
        </p:nvSpPr>
        <p:spPr>
          <a:xfrm>
            <a:off x="4343400" y="4425696"/>
            <a:ext cx="3145536" cy="0"/>
          </a:xfrm>
          <a:prstGeom prst="line">
            <a:avLst/>
          </a:prstGeom>
          <a:noFill/>
          <a:ln w="1524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17" name="Text 12"/>
          <p:cNvSpPr/>
          <p:nvPr/>
        </p:nvSpPr>
        <p:spPr>
          <a:xfrm>
            <a:off x="4343400" y="5010912"/>
            <a:ext cx="3136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说具体：哪一章？哪一类题？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019288" y="21945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我选择的两种策略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8055864" y="292608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策略1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116568" y="3246120"/>
            <a:ext cx="2112264" cy="0"/>
          </a:xfrm>
          <a:prstGeom prst="line">
            <a:avLst/>
          </a:prstGeom>
          <a:noFill/>
          <a:ln w="1524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21" name="Text 16"/>
          <p:cNvSpPr/>
          <p:nvPr/>
        </p:nvSpPr>
        <p:spPr>
          <a:xfrm>
            <a:off x="8055864" y="3529584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策略2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116568" y="3849624"/>
            <a:ext cx="2112264" cy="0"/>
          </a:xfrm>
          <a:prstGeom prst="line">
            <a:avLst/>
          </a:prstGeom>
          <a:noFill/>
          <a:ln w="1524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23" name="Text 18"/>
          <p:cNvSpPr/>
          <p:nvPr/>
        </p:nvSpPr>
        <p:spPr>
          <a:xfrm>
            <a:off x="8019288" y="43434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下一次行动</a:t>
            </a:r>
            <a:endParaRPr lang="en-US" sz="2300" dirty="0"/>
          </a:p>
        </p:txBody>
      </p:sp>
      <p:sp>
        <p:nvSpPr>
          <p:cNvPr id="24" name="Shape 19"/>
          <p:cNvSpPr/>
          <p:nvPr/>
        </p:nvSpPr>
        <p:spPr>
          <a:xfrm>
            <a:off x="8055864" y="5285232"/>
            <a:ext cx="3172968" cy="0"/>
          </a:xfrm>
          <a:prstGeom prst="line">
            <a:avLst/>
          </a:prstGeom>
          <a:noFill/>
          <a:ln w="1524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25" name="Shape 20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什么时候做？做什么？怎样检查自己是否记住了？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lab" descr="/workspace/mobile-lab/experiments/006-memory-factory/assets/backgrounds/background-2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课程回顾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把整座“记忆工厂”装进脑中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3分钟回顾：说出三个车间，再找到注意、加工与复习的作用。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22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39496" y="2542032"/>
            <a:ext cx="950976" cy="239572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724912"/>
            <a:ext cx="7498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</a:t>
            </a:r>
            <a:endParaRPr lang="en-US" sz="2100" dirty="0"/>
          </a:p>
        </p:txBody>
      </p:sp>
      <p:pic>
        <p:nvPicPr>
          <p:cNvPr id="12" name="知识图标：eye" descr="/workspace/mobile-lab/experiments/006-memory-factory/assets/icons/eye-3975D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" y="3575304"/>
            <a:ext cx="310896" cy="310896"/>
          </a:xfrm>
          <a:prstGeom prst="rect">
            <a:avLst/>
          </a:prstGeom>
        </p:spPr>
      </p:pic>
      <p:pic>
        <p:nvPicPr>
          <p:cNvPr id="13" name="知识图标：ear" descr="/workspace/mobile-lab/experiments/006-memory-factory/assets/icons/ear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" y="3959352"/>
            <a:ext cx="310896" cy="310896"/>
          </a:xfrm>
          <a:prstGeom prst="rect">
            <a:avLst/>
          </a:prstGeom>
        </p:spPr>
      </p:pic>
      <p:pic>
        <p:nvPicPr>
          <p:cNvPr id="14" name="知识图标：hand" descr="/workspace/mobile-lab/experiments/006-memory-factory/assets/icons/hand-3975D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" y="4343400"/>
            <a:ext cx="310896" cy="31089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694176"/>
            <a:ext cx="283464" cy="0"/>
          </a:xfrm>
          <a:prstGeom prst="line">
            <a:avLst/>
          </a:prstGeom>
          <a:noFill/>
          <a:ln w="2540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16" name="Shape 9"/>
          <p:cNvSpPr/>
          <p:nvPr/>
        </p:nvSpPr>
        <p:spPr>
          <a:xfrm>
            <a:off x="1828800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911096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感觉记忆</a:t>
            </a:r>
            <a:endParaRPr lang="en-US" sz="2300" dirty="0"/>
          </a:p>
        </p:txBody>
      </p:sp>
      <p:pic>
        <p:nvPicPr>
          <p:cNvPr id="18" name="场景插画：sensory-pod" descr="用于解释记忆与学习的原创扁平矢量场景：sensory-pod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240" y="2682050"/>
            <a:ext cx="2697480" cy="16859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911096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0.25–2 秒</a:t>
            </a:r>
            <a:endParaRPr lang="en-US" sz="2500" dirty="0"/>
          </a:p>
        </p:txBody>
      </p:sp>
      <p:sp>
        <p:nvSpPr>
          <p:cNvPr id="20" name="Text 12"/>
          <p:cNvSpPr/>
          <p:nvPr/>
        </p:nvSpPr>
        <p:spPr>
          <a:xfrm>
            <a:off x="1911096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瞬间快照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3264408" y="5266944"/>
            <a:ext cx="0" cy="118872"/>
          </a:xfrm>
          <a:prstGeom prst="line">
            <a:avLst/>
          </a:prstGeom>
          <a:noFill/>
          <a:ln w="2286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22" name="Shape 14"/>
          <p:cNvSpPr/>
          <p:nvPr/>
        </p:nvSpPr>
        <p:spPr>
          <a:xfrm>
            <a:off x="1975104" y="544982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048256" y="545896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4736592" y="3721608"/>
            <a:ext cx="356616" cy="0"/>
          </a:xfrm>
          <a:prstGeom prst="line">
            <a:avLst/>
          </a:prstGeom>
          <a:noFill/>
          <a:ln w="2794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25" name="Shape 17"/>
          <p:cNvSpPr/>
          <p:nvPr/>
        </p:nvSpPr>
        <p:spPr>
          <a:xfrm>
            <a:off x="5138928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221224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短时记忆</a:t>
            </a:r>
            <a:endParaRPr lang="en-US" sz="2300" dirty="0"/>
          </a:p>
        </p:txBody>
      </p:sp>
      <p:pic>
        <p:nvPicPr>
          <p:cNvPr id="27" name="场景插画：short-pod" descr="用于解释记忆与学习的原创扁平矢量场景：short-pod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0368" y="2682050"/>
            <a:ext cx="2697480" cy="16859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21224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1秒–1分钟</a:t>
            </a:r>
            <a:endParaRPr lang="en-US" sz="2500" dirty="0"/>
          </a:p>
        </p:txBody>
      </p:sp>
      <p:sp>
        <p:nvSpPr>
          <p:cNvPr id="29" name="Text 20"/>
          <p:cNvSpPr/>
          <p:nvPr/>
        </p:nvSpPr>
        <p:spPr>
          <a:xfrm>
            <a:off x="5221224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经典估计 7±2 组块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6574536" y="5266944"/>
            <a:ext cx="0" cy="118872"/>
          </a:xfrm>
          <a:prstGeom prst="line">
            <a:avLst/>
          </a:prstGeom>
          <a:noFill/>
          <a:ln w="2286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5285232" y="544982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358384" y="545896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046720" y="3721608"/>
            <a:ext cx="356616" cy="0"/>
          </a:xfrm>
          <a:prstGeom prst="line">
            <a:avLst/>
          </a:prstGeom>
          <a:noFill/>
          <a:ln w="27940">
            <a:solidFill>
              <a:srgbClr val="3975D7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8449056" y="1947672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8531352" y="20848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长时记忆</a:t>
            </a:r>
            <a:endParaRPr lang="en-US" sz="2300" dirty="0"/>
          </a:p>
        </p:txBody>
      </p:sp>
      <p:pic>
        <p:nvPicPr>
          <p:cNvPr id="36" name="场景插画：long-pod" descr="用于解释记忆与学习的原创扁平矢量场景：long-pod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0496" y="2682050"/>
            <a:ext cx="2697480" cy="168592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531352" y="4462272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长期保存</a:t>
            </a:r>
            <a:endParaRPr lang="en-US" sz="2500" dirty="0"/>
          </a:p>
        </p:txBody>
      </p:sp>
      <p:sp>
        <p:nvSpPr>
          <p:cNvPr id="38" name="Text 28"/>
          <p:cNvSpPr/>
          <p:nvPr/>
        </p:nvSpPr>
        <p:spPr>
          <a:xfrm>
            <a:off x="8531352" y="493776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容量巨大 · 意义编码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9884664" y="5266944"/>
            <a:ext cx="0" cy="118872"/>
          </a:xfrm>
          <a:prstGeom prst="line">
            <a:avLst/>
          </a:prstGeom>
          <a:noFill/>
          <a:ln w="22860">
            <a:solidFill>
              <a:srgbClr val="62647B"/>
            </a:solidFill>
            <a:prstDash val="solid"/>
            <a:headEnd type="none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8595360" y="5449824"/>
            <a:ext cx="2587752" cy="393192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8668512" y="545896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</a:t>
            </a:r>
            <a:endParaRPr lang="en-US" sz="1800" dirty="0"/>
          </a:p>
        </p:txBody>
      </p:sp>
      <p:sp>
        <p:nvSpPr>
          <p:cNvPr id="42" name="Shape 32"/>
          <p:cNvSpPr/>
          <p:nvPr/>
        </p:nvSpPr>
        <p:spPr>
          <a:xfrm>
            <a:off x="4507992" y="2697480"/>
            <a:ext cx="896112" cy="393192"/>
          </a:xfrm>
          <a:prstGeom prst="roundRect">
            <a:avLst>
              <a:gd name="adj" fmla="val 2790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581144" y="2706624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75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</a:t>
            </a:r>
            <a:endParaRPr lang="en-US" sz="1700" dirty="0"/>
          </a:p>
        </p:txBody>
      </p:sp>
      <p:sp>
        <p:nvSpPr>
          <p:cNvPr id="44" name="Shape 34"/>
          <p:cNvSpPr/>
          <p:nvPr/>
        </p:nvSpPr>
        <p:spPr>
          <a:xfrm>
            <a:off x="7342632" y="2697480"/>
            <a:ext cx="1618488" cy="393192"/>
          </a:xfrm>
          <a:prstGeom prst="roundRect">
            <a:avLst>
              <a:gd name="adj" fmla="val 27907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415784" y="270662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复述 / 理解</a:t>
            </a:r>
            <a:endParaRPr lang="en-US" sz="1700" dirty="0"/>
          </a:p>
        </p:txBody>
      </p:sp>
      <p:sp>
        <p:nvSpPr>
          <p:cNvPr id="46" name="Shape 36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注意输入 → 理解加工 → 间隔复习 + 主动输出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主题背景插画：hub" descr="/workspace/mobile-lab/experiments/006-memory-factory/assets/backgrounds/background-2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468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带走一张地图 / MEMORY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遗忘，是大脑的正常工作方式。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30352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学会记忆，不是要求自己过目不忘，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" y="6473952"/>
            <a:ext cx="11164824" cy="0"/>
          </a:xfrm>
          <a:prstGeom prst="line">
            <a:avLst/>
          </a:prstGeom>
          <a:noFill/>
          <a:ln w="10160">
            <a:solidFill>
              <a:srgbClr val="CCD0E7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12064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大脑“记忆”工厂 · 场景插画版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05872" y="6519672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22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0352" y="181051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而是学会让重要的信息留下来。</a:t>
            </a:r>
            <a:endParaRPr lang="en-US" sz="3000" dirty="0"/>
          </a:p>
        </p:txBody>
      </p:sp>
      <p:pic>
        <p:nvPicPr>
          <p:cNvPr id="11" name="场景插画：hub" descr="用于解释记忆与学习的原创扁平矢量场景：hub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1525" y="2496312"/>
            <a:ext cx="7988198" cy="332841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49808" y="2926080"/>
            <a:ext cx="200253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知识图标：eye" descr="/workspace/mobile-lab/experiments/006-memory-factory/assets/icons/eye-3975D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824" y="3090672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44752" y="30815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</a:t>
            </a:r>
            <a:endParaRPr lang="en-US" sz="2300" dirty="0"/>
          </a:p>
        </p:txBody>
      </p:sp>
      <p:sp>
        <p:nvSpPr>
          <p:cNvPr id="15" name="Shape 9"/>
          <p:cNvSpPr/>
          <p:nvPr/>
        </p:nvSpPr>
        <p:spPr>
          <a:xfrm>
            <a:off x="749808" y="4535424"/>
            <a:ext cx="200253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知识图标：network" descr="/workspace/mobile-lab/experiments/006-memory-factory/assets/icons/network-3975D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824" y="4700016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44752" y="46908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2300" dirty="0"/>
          </a:p>
        </p:txBody>
      </p:sp>
      <p:sp>
        <p:nvSpPr>
          <p:cNvPr id="18" name="Shape 11"/>
          <p:cNvSpPr/>
          <p:nvPr/>
        </p:nvSpPr>
        <p:spPr>
          <a:xfrm>
            <a:off x="9418320" y="2926080"/>
            <a:ext cx="200253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知识图标：refresh-cw" descr="/workspace/mobile-lab/experiments/006-memory-factory/assets/icons/refresh-cw-3975D7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46336" y="3090672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113264" y="308152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复习</a:t>
            </a:r>
            <a:endParaRPr lang="en-US" sz="2300" dirty="0"/>
          </a:p>
        </p:txBody>
      </p:sp>
      <p:sp>
        <p:nvSpPr>
          <p:cNvPr id="21" name="Shape 13"/>
          <p:cNvSpPr/>
          <p:nvPr/>
        </p:nvSpPr>
        <p:spPr>
          <a:xfrm>
            <a:off x="9418320" y="4535424"/>
            <a:ext cx="200253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知识图标：message-circle" descr="/workspace/mobile-lab/experiments/006-memory-factory/assets/icons/message-circle-3975D7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46336" y="4700016"/>
            <a:ext cx="384048" cy="38404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113264" y="46908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2300" dirty="0"/>
          </a:p>
        </p:txBody>
      </p:sp>
      <p:sp>
        <p:nvSpPr>
          <p:cNvPr id="24" name="Shape 15"/>
          <p:cNvSpPr/>
          <p:nvPr/>
        </p:nvSpPr>
        <p:spPr>
          <a:xfrm>
            <a:off x="530352" y="5925312"/>
            <a:ext cx="11128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731520" y="595731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636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遗忘不等于笨。你可以用合适的方法，帮助重要的信息留下来。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大脑“记忆”工厂 · 场景插画版</dc:title>
  <dc:subject>40分钟初中心理健康课</dc:subject>
  <dc:creator>Pocket Creative Lab</dc:creator>
  <cp:lastModifiedBy>Pocket Creative Lab</cp:lastModifiedBy>
  <cp:revision>1</cp:revision>
  <dcterms:created xsi:type="dcterms:W3CDTF">2026-10-28T15:44:54Z</dcterms:created>
  <dcterms:modified xsi:type="dcterms:W3CDTF">2026-10-28T15:44:54Z</dcterms:modified>
</cp:coreProperties>
</file>